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4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Arial Bold" charset="1" panose="020B0704020202020204"/>
      <p:regular r:id="rId17"/>
    </p:embeddedFont>
    <p:embeddedFont>
      <p:font typeface="Arial" charset="1" panose="020B0604020202020204"/>
      <p:regular r:id="rId18"/>
    </p:embeddedFont>
    <p:embeddedFont>
      <p:font typeface="Arial Italics" charset="1" panose="020B0604020202090204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notesMasters/notesMaster1.xml" Type="http://schemas.openxmlformats.org/officeDocument/2006/relationships/notesMaster"/><Relationship Id="rId15" Target="theme/theme2.xml" Type="http://schemas.openxmlformats.org/officeDocument/2006/relationships/theme"/><Relationship Id="rId16" Target="notesSlides/notesSlide1.xml" Type="http://schemas.openxmlformats.org/officeDocument/2006/relationships/notes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notesSlides/notesSlide2.xml" Type="http://schemas.openxmlformats.org/officeDocument/2006/relationships/notesSlide"/><Relationship Id="rId2" Target="presProps.xml" Type="http://schemas.openxmlformats.org/officeDocument/2006/relationships/presProps"/><Relationship Id="rId20" Target="notesSlides/notesSlide3.xml" Type="http://schemas.openxmlformats.org/officeDocument/2006/relationships/notesSlide"/><Relationship Id="rId21" Target="notesSlides/notesSlide4.xml" Type="http://schemas.openxmlformats.org/officeDocument/2006/relationships/notesSlide"/><Relationship Id="rId22" Target="notesSlides/notesSlide5.xml" Type="http://schemas.openxmlformats.org/officeDocument/2006/relationships/notesSlide"/><Relationship Id="rId23" Target="notesSlides/notesSlide6.xml" Type="http://schemas.openxmlformats.org/officeDocument/2006/relationships/notesSlide"/><Relationship Id="rId24" Target="notesSlides/notesSlide7.xml" Type="http://schemas.openxmlformats.org/officeDocument/2006/relationships/notesSlide"/><Relationship Id="rId25" Target="fonts/font25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jpe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Relationship Id="rId6" Target="../media/image6.png" Type="http://schemas.openxmlformats.org/officeDocument/2006/relationships/image"/><Relationship Id="rId7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jpeg" Type="http://schemas.openxmlformats.org/officeDocument/2006/relationships/image"/><Relationship Id="rId4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jpeg" Type="http://schemas.openxmlformats.org/officeDocument/2006/relationships/image"/><Relationship Id="rId4" Target="../media/image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jpe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Relationship Id="rId6" Target="../media/image9.png" Type="http://schemas.openxmlformats.org/officeDocument/2006/relationships/image"/><Relationship Id="rId7" Target="../media/image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jpeg" Type="http://schemas.openxmlformats.org/officeDocument/2006/relationships/image"/><Relationship Id="rId4" Target="../media/image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Relationship Id="rId4" Target="../media/image10.png" Type="http://schemas.openxmlformats.org/officeDocument/2006/relationships/image"/><Relationship Id="rId5" Target="../media/image1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jpe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Relationship Id="rId6" Target="../media/image6.png" Type="http://schemas.openxmlformats.org/officeDocument/2006/relationships/image"/><Relationship Id="rId7" Target="../media/image12.png" Type="http://schemas.openxmlformats.org/officeDocument/2006/relationships/image"/><Relationship Id="rId8" Target="../media/image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354587" cy="10312403"/>
            <a:chOff x="0" y="0"/>
            <a:chExt cx="472783" cy="137498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72821" cy="13749910"/>
            </a:xfrm>
            <a:custGeom>
              <a:avLst/>
              <a:gdLst/>
              <a:ahLst/>
              <a:cxnLst/>
              <a:rect r="r" b="b" t="t" l="l"/>
              <a:pathLst>
                <a:path h="13749910" w="472821">
                  <a:moveTo>
                    <a:pt x="0" y="0"/>
                  </a:moveTo>
                  <a:lnTo>
                    <a:pt x="472821" y="0"/>
                  </a:lnTo>
                  <a:lnTo>
                    <a:pt x="472821" y="13749910"/>
                  </a:lnTo>
                  <a:lnTo>
                    <a:pt x="0" y="13749910"/>
                  </a:lnTo>
                  <a:close/>
                </a:path>
              </a:pathLst>
            </a:custGeom>
            <a:solidFill>
              <a:srgbClr val="74C69D"/>
            </a:solidFill>
            <a:ln w="25400" cap="sq">
              <a:solidFill>
                <a:srgbClr val="74C69D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280160" y="822960"/>
            <a:ext cx="14630400" cy="640080"/>
            <a:chOff x="0" y="0"/>
            <a:chExt cx="19507200" cy="8534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507200" cy="853440"/>
            </a:xfrm>
            <a:custGeom>
              <a:avLst/>
              <a:gdLst/>
              <a:ahLst/>
              <a:cxnLst/>
              <a:rect r="r" b="b" t="t" l="l"/>
              <a:pathLst>
                <a:path h="853440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5372" r="0" b="-395372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19507200" cy="872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b="true" sz="2600" spc="599">
                  <a:solidFill>
                    <a:srgbClr val="74C69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PROYECTO APT  ·  FASE 1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280160" y="2025432"/>
            <a:ext cx="8536056" cy="1984177"/>
            <a:chOff x="0" y="0"/>
            <a:chExt cx="11381408" cy="264556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381408" cy="2645569"/>
            </a:xfrm>
            <a:custGeom>
              <a:avLst/>
              <a:gdLst/>
              <a:ahLst/>
              <a:cxnLst/>
              <a:rect r="r" b="b" t="t" l="l"/>
              <a:pathLst>
                <a:path h="2645569" w="11381408">
                  <a:moveTo>
                    <a:pt x="0" y="0"/>
                  </a:moveTo>
                  <a:lnTo>
                    <a:pt x="11381408" y="0"/>
                  </a:lnTo>
                  <a:lnTo>
                    <a:pt x="11381408" y="2645569"/>
                  </a:lnTo>
                  <a:lnTo>
                    <a:pt x="0" y="26455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1177" r="-82107" b="-94129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11381408" cy="26931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1519"/>
                </a:lnSpc>
              </a:pPr>
              <a:r>
                <a:rPr lang="en-US" sz="96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AgroAsesor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280160" y="3931920"/>
            <a:ext cx="13716000" cy="1645920"/>
            <a:chOff x="0" y="0"/>
            <a:chExt cx="18288000" cy="219456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8288000" cy="2194560"/>
            </a:xfrm>
            <a:custGeom>
              <a:avLst/>
              <a:gdLst/>
              <a:ahLst/>
              <a:cxnLst/>
              <a:rect r="r" b="b" t="t" l="l"/>
              <a:pathLst>
                <a:path h="219456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2375" r="0" b="-112375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28575"/>
              <a:ext cx="18288000" cy="22231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>
                  <a:solidFill>
                    <a:srgbClr val="B7E4C7"/>
                  </a:solidFill>
                  <a:latin typeface="Arial"/>
                  <a:ea typeface="Arial"/>
                  <a:cs typeface="Arial"/>
                  <a:sym typeface="Arial"/>
                </a:rPr>
                <a:t>Sistema web para la organización de terrenos,</a:t>
              </a:r>
            </a:p>
            <a:p>
              <a:pPr algn="l">
                <a:lnSpc>
                  <a:spcPts val="4320"/>
                </a:lnSpc>
              </a:pPr>
              <a:r>
                <a:rPr lang="en-US" sz="3600">
                  <a:solidFill>
                    <a:srgbClr val="B7E4C7"/>
                  </a:solidFill>
                  <a:latin typeface="Arial"/>
                  <a:ea typeface="Arial"/>
                  <a:cs typeface="Arial"/>
                  <a:sym typeface="Arial"/>
                </a:rPr>
                <a:t>cultivos y actividades agrícolas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267463" y="5839463"/>
            <a:ext cx="4597403" cy="98555"/>
            <a:chOff x="0" y="0"/>
            <a:chExt cx="6129871" cy="13140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129909" cy="131445"/>
            </a:xfrm>
            <a:custGeom>
              <a:avLst/>
              <a:gdLst/>
              <a:ahLst/>
              <a:cxnLst/>
              <a:rect r="r" b="b" t="t" l="l"/>
              <a:pathLst>
                <a:path h="131445" w="6129909">
                  <a:moveTo>
                    <a:pt x="0" y="0"/>
                  </a:moveTo>
                  <a:lnTo>
                    <a:pt x="6129909" y="0"/>
                  </a:lnTo>
                  <a:lnTo>
                    <a:pt x="6129909" y="131445"/>
                  </a:lnTo>
                  <a:lnTo>
                    <a:pt x="0" y="131445"/>
                  </a:lnTo>
                  <a:close/>
                </a:path>
              </a:pathLst>
            </a:custGeom>
            <a:solidFill>
              <a:srgbClr val="74C69D"/>
            </a:solidFill>
            <a:ln w="2540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1280160" y="6309360"/>
            <a:ext cx="9144000" cy="1280160"/>
            <a:chOff x="0" y="0"/>
            <a:chExt cx="12192000" cy="170688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21920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178" r="0" b="-89178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9050"/>
              <a:ext cx="12192000" cy="17259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>
                  <a:solidFill>
                    <a:srgbClr val="A8D5BA"/>
                  </a:solidFill>
                  <a:latin typeface="Arial"/>
                  <a:ea typeface="Arial"/>
                  <a:cs typeface="Arial"/>
                  <a:sym typeface="Arial"/>
                </a:rPr>
                <a:t>Ingeniería en Informática</a:t>
              </a:r>
            </a:p>
            <a:p>
              <a:pPr algn="l">
                <a:lnSpc>
                  <a:spcPts val="3600"/>
                </a:lnSpc>
              </a:pPr>
              <a:r>
                <a:rPr lang="en-US" sz="3000">
                  <a:solidFill>
                    <a:srgbClr val="A8D5BA"/>
                  </a:solidFill>
                  <a:latin typeface="Arial"/>
                  <a:ea typeface="Arial"/>
                  <a:cs typeface="Arial"/>
                  <a:sym typeface="Arial"/>
                </a:rPr>
                <a:t>Duoc UC – Sede Melipilla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028700" y="8322945"/>
            <a:ext cx="2883228" cy="1772259"/>
            <a:chOff x="0" y="0"/>
            <a:chExt cx="8991973" cy="552717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991917" cy="5526976"/>
            </a:xfrm>
            <a:custGeom>
              <a:avLst/>
              <a:gdLst/>
              <a:ahLst/>
              <a:cxnLst/>
              <a:rect r="r" b="b" t="t" l="l"/>
              <a:pathLst>
                <a:path h="5526976" w="8991917">
                  <a:moveTo>
                    <a:pt x="0" y="442079"/>
                  </a:moveTo>
                  <a:cubicBezTo>
                    <a:pt x="0" y="197899"/>
                    <a:pt x="56146" y="0"/>
                    <a:pt x="125423" y="0"/>
                  </a:cubicBezTo>
                  <a:lnTo>
                    <a:pt x="8866494" y="0"/>
                  </a:lnTo>
                  <a:cubicBezTo>
                    <a:pt x="8935770" y="0"/>
                    <a:pt x="8991917" y="197899"/>
                    <a:pt x="8991917" y="442079"/>
                  </a:cubicBezTo>
                  <a:lnTo>
                    <a:pt x="8991917" y="5084897"/>
                  </a:lnTo>
                  <a:cubicBezTo>
                    <a:pt x="8991917" y="5329077"/>
                    <a:pt x="8935770" y="5526976"/>
                    <a:pt x="8866494" y="5526976"/>
                  </a:cubicBezTo>
                  <a:lnTo>
                    <a:pt x="125423" y="5526976"/>
                  </a:lnTo>
                  <a:cubicBezTo>
                    <a:pt x="56146" y="5527213"/>
                    <a:pt x="0" y="5329077"/>
                    <a:pt x="0" y="5084897"/>
                  </a:cubicBezTo>
                  <a:close/>
                </a:path>
              </a:pathLst>
            </a:custGeom>
            <a:solidFill>
              <a:srgbClr val="143528"/>
            </a:solidFill>
            <a:ln w="2540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1051277" y="8322945"/>
            <a:ext cx="2883228" cy="512064"/>
            <a:chOff x="0" y="0"/>
            <a:chExt cx="3844305" cy="68275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844305" cy="682752"/>
            </a:xfrm>
            <a:custGeom>
              <a:avLst/>
              <a:gdLst/>
              <a:ahLst/>
              <a:cxnLst/>
              <a:rect r="r" b="b" t="t" l="l"/>
              <a:pathLst>
                <a:path h="682752" w="3844305">
                  <a:moveTo>
                    <a:pt x="0" y="0"/>
                  </a:moveTo>
                  <a:lnTo>
                    <a:pt x="3844305" y="0"/>
                  </a:lnTo>
                  <a:lnTo>
                    <a:pt x="3844305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5782" r="-242515" b="-325782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3844305" cy="6922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74C69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Integrantes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165482" y="8961464"/>
            <a:ext cx="2654818" cy="1024161"/>
            <a:chOff x="0" y="0"/>
            <a:chExt cx="3539757" cy="136554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539758" cy="1365548"/>
            </a:xfrm>
            <a:custGeom>
              <a:avLst/>
              <a:gdLst/>
              <a:ahLst/>
              <a:cxnLst/>
              <a:rect r="r" b="b" t="t" l="l"/>
              <a:pathLst>
                <a:path h="1365548" w="3539758">
                  <a:moveTo>
                    <a:pt x="0" y="0"/>
                  </a:moveTo>
                  <a:lnTo>
                    <a:pt x="3539758" y="0"/>
                  </a:lnTo>
                  <a:lnTo>
                    <a:pt x="3539758" y="1365548"/>
                  </a:lnTo>
                  <a:lnTo>
                    <a:pt x="0" y="13655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3243" r="-271984" b="-132526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9525"/>
              <a:ext cx="3539757" cy="13750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·  </a:t>
              </a:r>
              <a:r>
                <a:rPr lang="en-US" sz="20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Emiliano Armijo </a:t>
              </a:r>
            </a:p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·  Benjamín Alvarado </a:t>
              </a:r>
            </a:p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·  Hugo Romero 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1674425" y="2444704"/>
            <a:ext cx="6007596" cy="6266273"/>
            <a:chOff x="0" y="0"/>
            <a:chExt cx="8010128" cy="8355031"/>
          </a:xfrm>
        </p:grpSpPr>
        <p:sp>
          <p:nvSpPr>
            <p:cNvPr name="Freeform 27" id="27" descr="/home/workdir/attachments/login.png"/>
            <p:cNvSpPr/>
            <p:nvPr/>
          </p:nvSpPr>
          <p:spPr>
            <a:xfrm flipH="false" flipV="false" rot="0">
              <a:off x="0" y="0"/>
              <a:ext cx="8010128" cy="8355030"/>
            </a:xfrm>
            <a:custGeom>
              <a:avLst/>
              <a:gdLst/>
              <a:ahLst/>
              <a:cxnLst/>
              <a:rect r="r" b="b" t="t" l="l"/>
              <a:pathLst>
                <a:path h="8355030" w="8010128">
                  <a:moveTo>
                    <a:pt x="544342" y="0"/>
                  </a:moveTo>
                  <a:lnTo>
                    <a:pt x="7465786" y="0"/>
                  </a:lnTo>
                  <a:cubicBezTo>
                    <a:pt x="7766418" y="0"/>
                    <a:pt x="8010128" y="243710"/>
                    <a:pt x="8010128" y="544342"/>
                  </a:cubicBezTo>
                  <a:lnTo>
                    <a:pt x="8010128" y="7810688"/>
                  </a:lnTo>
                  <a:cubicBezTo>
                    <a:pt x="8010128" y="8111320"/>
                    <a:pt x="7766418" y="8355030"/>
                    <a:pt x="7465786" y="8355030"/>
                  </a:cubicBezTo>
                  <a:lnTo>
                    <a:pt x="544342" y="8355030"/>
                  </a:lnTo>
                  <a:cubicBezTo>
                    <a:pt x="243710" y="8355030"/>
                    <a:pt x="0" y="8111320"/>
                    <a:pt x="0" y="7810688"/>
                  </a:cubicBezTo>
                  <a:lnTo>
                    <a:pt x="0" y="544342"/>
                  </a:lnTo>
                  <a:cubicBezTo>
                    <a:pt x="0" y="243710"/>
                    <a:pt x="243710" y="0"/>
                    <a:pt x="544342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14784" r="-83333" b="-17039"/>
              </a:stretch>
            </a:blipFill>
          </p:spPr>
        </p:sp>
      </p:grpSp>
      <p:sp>
        <p:nvSpPr>
          <p:cNvPr name="Freeform 28" id="28"/>
          <p:cNvSpPr/>
          <p:nvPr/>
        </p:nvSpPr>
        <p:spPr>
          <a:xfrm flipH="false" flipV="false" rot="0">
            <a:off x="16378933" y="-12697"/>
            <a:ext cx="1909067" cy="470108"/>
          </a:xfrm>
          <a:custGeom>
            <a:avLst/>
            <a:gdLst/>
            <a:ahLst/>
            <a:cxnLst/>
            <a:rect r="r" b="b" t="t" l="l"/>
            <a:pathLst>
              <a:path h="470108" w="1909067">
                <a:moveTo>
                  <a:pt x="0" y="0"/>
                </a:moveTo>
                <a:lnTo>
                  <a:pt x="1909067" y="0"/>
                </a:lnTo>
                <a:lnTo>
                  <a:pt x="1909067" y="470108"/>
                </a:lnTo>
                <a:lnTo>
                  <a:pt x="0" y="47010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671323"/>
            <a:chOff x="0" y="0"/>
            <a:chExt cx="24417871" cy="222843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17910" cy="2228469"/>
            </a:xfrm>
            <a:custGeom>
              <a:avLst/>
              <a:gdLst/>
              <a:ahLst/>
              <a:cxnLst/>
              <a:rect r="r" b="b" t="t" l="l"/>
              <a:pathLst>
                <a:path h="2228469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2228469"/>
                  </a:lnTo>
                  <a:lnTo>
                    <a:pt x="0" y="2228469"/>
                  </a:lnTo>
                  <a:close/>
                </a:path>
              </a:pathLst>
            </a:custGeom>
            <a:solidFill>
              <a:srgbClr val="1B4332"/>
            </a:solidFill>
            <a:ln w="2540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402336"/>
            <a:ext cx="16459200" cy="914400"/>
            <a:chOff x="0" y="0"/>
            <a:chExt cx="21945600" cy="1219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0730" r="0" b="-30073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21945600" cy="12382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9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¿Qué es AgroAsesor?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777235" y="2803516"/>
            <a:ext cx="16459200" cy="1645920"/>
            <a:chOff x="0" y="0"/>
            <a:chExt cx="21945600" cy="21945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2194560"/>
            </a:xfrm>
            <a:custGeom>
              <a:avLst/>
              <a:gdLst/>
              <a:ahLst/>
              <a:cxnLst/>
              <a:rect r="r" b="b" t="t" l="l"/>
              <a:pathLst>
                <a:path h="219456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21945600" cy="22136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>
                  <a:solidFill>
                    <a:srgbClr val="1A1A1A"/>
                  </a:solidFill>
                  <a:latin typeface="Arial"/>
                  <a:ea typeface="Arial"/>
                  <a:cs typeface="Arial"/>
                  <a:sym typeface="Arial"/>
                </a:rPr>
                <a:t>AgroAsesor es una plataforma web orientada a apoyar a un trabajador del sector agrícola de Melipilla.</a:t>
              </a:r>
            </a:p>
            <a:p>
              <a:pPr algn="l">
                <a:lnSpc>
                  <a:spcPts val="3600"/>
                </a:lnSpc>
              </a:pPr>
              <a:r>
                <a:rPr lang="en-US" sz="3000">
                  <a:solidFill>
                    <a:srgbClr val="1A1A1A"/>
                  </a:solidFill>
                  <a:latin typeface="Arial"/>
                  <a:ea typeface="Arial"/>
                  <a:cs typeface="Arial"/>
                  <a:sym typeface="Arial"/>
                </a:rPr>
                <a:t>Su propósito es centralizar información que actualmente se registra de forma manual o se encuentra distribuida en distintos medios.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764538" y="4802499"/>
            <a:ext cx="5420363" cy="3408683"/>
            <a:chOff x="0" y="0"/>
            <a:chExt cx="7227151" cy="454491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227062" cy="4544822"/>
            </a:xfrm>
            <a:custGeom>
              <a:avLst/>
              <a:gdLst/>
              <a:ahLst/>
              <a:cxnLst/>
              <a:rect r="r" b="b" t="t" l="l"/>
              <a:pathLst>
                <a:path h="4544822" w="7227062">
                  <a:moveTo>
                    <a:pt x="0" y="245618"/>
                  </a:moveTo>
                  <a:cubicBezTo>
                    <a:pt x="0" y="109982"/>
                    <a:pt x="109982" y="0"/>
                    <a:pt x="245618" y="0"/>
                  </a:cubicBezTo>
                  <a:lnTo>
                    <a:pt x="6981444" y="0"/>
                  </a:lnTo>
                  <a:cubicBezTo>
                    <a:pt x="7117080" y="0"/>
                    <a:pt x="7227062" y="109982"/>
                    <a:pt x="7227062" y="245618"/>
                  </a:cubicBezTo>
                  <a:lnTo>
                    <a:pt x="7227062" y="4299204"/>
                  </a:lnTo>
                  <a:cubicBezTo>
                    <a:pt x="7227062" y="4434840"/>
                    <a:pt x="7117080" y="4544822"/>
                    <a:pt x="6981444" y="4544822"/>
                  </a:cubicBezTo>
                  <a:lnTo>
                    <a:pt x="245618" y="4544822"/>
                  </a:lnTo>
                  <a:cubicBezTo>
                    <a:pt x="109982" y="4544949"/>
                    <a:pt x="0" y="4434967"/>
                    <a:pt x="0" y="4299204"/>
                  </a:cubicBez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764538" y="4802499"/>
            <a:ext cx="5420363" cy="171707"/>
            <a:chOff x="0" y="0"/>
            <a:chExt cx="7227151" cy="22894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227189" cy="228981"/>
            </a:xfrm>
            <a:custGeom>
              <a:avLst/>
              <a:gdLst/>
              <a:ahLst/>
              <a:cxnLst/>
              <a:rect r="r" b="b" t="t" l="l"/>
              <a:pathLst>
                <a:path h="228981" w="7227189">
                  <a:moveTo>
                    <a:pt x="0" y="0"/>
                  </a:moveTo>
                  <a:lnTo>
                    <a:pt x="7227189" y="0"/>
                  </a:lnTo>
                  <a:lnTo>
                    <a:pt x="7227189" y="228981"/>
                  </a:lnTo>
                  <a:lnTo>
                    <a:pt x="0" y="228981"/>
                  </a:lnTo>
                  <a:close/>
                </a:path>
              </a:pathLst>
            </a:custGeom>
            <a:solidFill>
              <a:srgbClr val="2D6A4F"/>
            </a:solidFill>
            <a:ln w="2540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142995" y="5272396"/>
            <a:ext cx="731520" cy="731520"/>
            <a:chOff x="0" y="0"/>
            <a:chExt cx="975360" cy="975360"/>
          </a:xfrm>
        </p:grpSpPr>
        <p:sp>
          <p:nvSpPr>
            <p:cNvPr name="Freeform 15" id="15" descr="preencoded.png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142995" y="6278236"/>
            <a:ext cx="4663440" cy="640080"/>
            <a:chOff x="0" y="0"/>
            <a:chExt cx="6217920" cy="8534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217920" cy="853440"/>
            </a:xfrm>
            <a:custGeom>
              <a:avLst/>
              <a:gdLst/>
              <a:ahLst/>
              <a:cxnLst/>
              <a:rect r="r" b="b" t="t" l="l"/>
              <a:pathLst>
                <a:path h="853440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1962" r="0" b="-91962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19050"/>
              <a:ext cx="6217920" cy="872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1B4332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Terrenos y cultivos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142995" y="6918316"/>
            <a:ext cx="4663440" cy="1005840"/>
            <a:chOff x="0" y="0"/>
            <a:chExt cx="6217920" cy="134112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2179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339" r="0" b="-40339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9525"/>
              <a:ext cx="6217920" cy="13506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5C5C5C"/>
                  </a:solidFill>
                  <a:latin typeface="Arial"/>
                  <a:ea typeface="Arial"/>
                  <a:cs typeface="Arial"/>
                  <a:sym typeface="Arial"/>
                </a:rPr>
                <a:t>Registrar y administrar terrenos con sus cultivos asociados.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6433818" y="4802499"/>
            <a:ext cx="5420363" cy="3408683"/>
            <a:chOff x="0" y="0"/>
            <a:chExt cx="7227151" cy="4544911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227062" cy="4544822"/>
            </a:xfrm>
            <a:custGeom>
              <a:avLst/>
              <a:gdLst/>
              <a:ahLst/>
              <a:cxnLst/>
              <a:rect r="r" b="b" t="t" l="l"/>
              <a:pathLst>
                <a:path h="4544822" w="7227062">
                  <a:moveTo>
                    <a:pt x="0" y="245618"/>
                  </a:moveTo>
                  <a:cubicBezTo>
                    <a:pt x="0" y="109982"/>
                    <a:pt x="109982" y="0"/>
                    <a:pt x="245618" y="0"/>
                  </a:cubicBezTo>
                  <a:lnTo>
                    <a:pt x="6981444" y="0"/>
                  </a:lnTo>
                  <a:cubicBezTo>
                    <a:pt x="7117080" y="0"/>
                    <a:pt x="7227062" y="109982"/>
                    <a:pt x="7227062" y="245618"/>
                  </a:cubicBezTo>
                  <a:lnTo>
                    <a:pt x="7227062" y="4299204"/>
                  </a:lnTo>
                  <a:cubicBezTo>
                    <a:pt x="7227062" y="4434840"/>
                    <a:pt x="7117080" y="4544822"/>
                    <a:pt x="6981444" y="4544822"/>
                  </a:cubicBezTo>
                  <a:lnTo>
                    <a:pt x="245618" y="4544822"/>
                  </a:lnTo>
                  <a:cubicBezTo>
                    <a:pt x="109982" y="4544949"/>
                    <a:pt x="0" y="4434967"/>
                    <a:pt x="0" y="4299204"/>
                  </a:cubicBez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6433818" y="4802499"/>
            <a:ext cx="5420363" cy="171707"/>
            <a:chOff x="0" y="0"/>
            <a:chExt cx="7227151" cy="228943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227189" cy="228981"/>
            </a:xfrm>
            <a:custGeom>
              <a:avLst/>
              <a:gdLst/>
              <a:ahLst/>
              <a:cxnLst/>
              <a:rect r="r" b="b" t="t" l="l"/>
              <a:pathLst>
                <a:path h="228981" w="7227189">
                  <a:moveTo>
                    <a:pt x="0" y="0"/>
                  </a:moveTo>
                  <a:lnTo>
                    <a:pt x="7227189" y="0"/>
                  </a:lnTo>
                  <a:lnTo>
                    <a:pt x="7227189" y="228981"/>
                  </a:lnTo>
                  <a:lnTo>
                    <a:pt x="0" y="228981"/>
                  </a:lnTo>
                  <a:close/>
                </a:path>
              </a:pathLst>
            </a:custGeom>
            <a:solidFill>
              <a:srgbClr val="2D6A4F"/>
            </a:solidFill>
            <a:ln w="2540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6812275" y="5272396"/>
            <a:ext cx="731520" cy="731520"/>
            <a:chOff x="0" y="0"/>
            <a:chExt cx="975360" cy="975360"/>
          </a:xfrm>
        </p:grpSpPr>
        <p:sp>
          <p:nvSpPr>
            <p:cNvPr name="Freeform 27" id="27" descr="preencoded.png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6812275" y="6278236"/>
            <a:ext cx="4663440" cy="640080"/>
            <a:chOff x="0" y="0"/>
            <a:chExt cx="6217920" cy="85344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217920" cy="853440"/>
            </a:xfrm>
            <a:custGeom>
              <a:avLst/>
              <a:gdLst/>
              <a:ahLst/>
              <a:cxnLst/>
              <a:rect r="r" b="b" t="t" l="l"/>
              <a:pathLst>
                <a:path h="853440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1962" r="0" b="-91962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19050"/>
              <a:ext cx="6217920" cy="872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1B4332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Cálculos agrícolas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6812275" y="6918316"/>
            <a:ext cx="4663440" cy="1005840"/>
            <a:chOff x="0" y="0"/>
            <a:chExt cx="6217920" cy="134112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2179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339" r="0" b="-40339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9525"/>
              <a:ext cx="6217920" cy="13506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5C5C5C"/>
                  </a:solidFill>
                  <a:latin typeface="Arial"/>
                  <a:ea typeface="Arial"/>
                  <a:cs typeface="Arial"/>
                  <a:sym typeface="Arial"/>
                </a:rPr>
                <a:t>Calcular cantidades de semillas o insumos según superficie y dosis.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2103098" y="4802499"/>
            <a:ext cx="5420363" cy="3408683"/>
            <a:chOff x="0" y="0"/>
            <a:chExt cx="7227151" cy="4544911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7227062" cy="4544822"/>
            </a:xfrm>
            <a:custGeom>
              <a:avLst/>
              <a:gdLst/>
              <a:ahLst/>
              <a:cxnLst/>
              <a:rect r="r" b="b" t="t" l="l"/>
              <a:pathLst>
                <a:path h="4544822" w="7227062">
                  <a:moveTo>
                    <a:pt x="0" y="245618"/>
                  </a:moveTo>
                  <a:cubicBezTo>
                    <a:pt x="0" y="109982"/>
                    <a:pt x="109982" y="0"/>
                    <a:pt x="245618" y="0"/>
                  </a:cubicBezTo>
                  <a:lnTo>
                    <a:pt x="6981444" y="0"/>
                  </a:lnTo>
                  <a:cubicBezTo>
                    <a:pt x="7117080" y="0"/>
                    <a:pt x="7227062" y="109982"/>
                    <a:pt x="7227062" y="245618"/>
                  </a:cubicBezTo>
                  <a:lnTo>
                    <a:pt x="7227062" y="4299204"/>
                  </a:lnTo>
                  <a:cubicBezTo>
                    <a:pt x="7227062" y="4434840"/>
                    <a:pt x="7117080" y="4544822"/>
                    <a:pt x="6981444" y="4544822"/>
                  </a:cubicBezTo>
                  <a:lnTo>
                    <a:pt x="245618" y="4544822"/>
                  </a:lnTo>
                  <a:cubicBezTo>
                    <a:pt x="109982" y="4544949"/>
                    <a:pt x="0" y="4434967"/>
                    <a:pt x="0" y="4299204"/>
                  </a:cubicBez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12103098" y="4802499"/>
            <a:ext cx="5420363" cy="171707"/>
            <a:chOff x="0" y="0"/>
            <a:chExt cx="7227151" cy="228943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7227189" cy="228981"/>
            </a:xfrm>
            <a:custGeom>
              <a:avLst/>
              <a:gdLst/>
              <a:ahLst/>
              <a:cxnLst/>
              <a:rect r="r" b="b" t="t" l="l"/>
              <a:pathLst>
                <a:path h="228981" w="7227189">
                  <a:moveTo>
                    <a:pt x="0" y="0"/>
                  </a:moveTo>
                  <a:lnTo>
                    <a:pt x="7227189" y="0"/>
                  </a:lnTo>
                  <a:lnTo>
                    <a:pt x="7227189" y="228981"/>
                  </a:lnTo>
                  <a:lnTo>
                    <a:pt x="0" y="228981"/>
                  </a:lnTo>
                  <a:close/>
                </a:path>
              </a:pathLst>
            </a:custGeom>
            <a:solidFill>
              <a:srgbClr val="2D6A4F"/>
            </a:solidFill>
            <a:ln w="2540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38" id="38"/>
          <p:cNvGrpSpPr/>
          <p:nvPr/>
        </p:nvGrpSpPr>
        <p:grpSpPr>
          <a:xfrm rot="0">
            <a:off x="12481555" y="5272396"/>
            <a:ext cx="731520" cy="731520"/>
            <a:chOff x="0" y="0"/>
            <a:chExt cx="975360" cy="975360"/>
          </a:xfrm>
        </p:grpSpPr>
        <p:sp>
          <p:nvSpPr>
            <p:cNvPr name="Freeform 39" id="39" descr="preencoded.png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2481555" y="6278236"/>
            <a:ext cx="4663440" cy="640080"/>
            <a:chOff x="0" y="0"/>
            <a:chExt cx="6217920" cy="85344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6217920" cy="853440"/>
            </a:xfrm>
            <a:custGeom>
              <a:avLst/>
              <a:gdLst/>
              <a:ahLst/>
              <a:cxnLst/>
              <a:rect r="r" b="b" t="t" l="l"/>
              <a:pathLst>
                <a:path h="853440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1962" r="0" b="-91962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19050"/>
              <a:ext cx="6217920" cy="872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1B4332"/>
                  </a:solidFill>
                  <a:latin typeface="Arial Bold"/>
                  <a:ea typeface="Arial Bold"/>
                  <a:cs typeface="Arial Bold"/>
                  <a:sym typeface="Arial Bold"/>
                </a:rPr>
                <a:t>Historial de actividades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2481555" y="6918316"/>
            <a:ext cx="4663440" cy="1005840"/>
            <a:chOff x="0" y="0"/>
            <a:chExt cx="6217920" cy="134112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62179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339" r="0" b="-40339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9525"/>
              <a:ext cx="6217920" cy="13506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5C5C5C"/>
                  </a:solidFill>
                  <a:latin typeface="Arial"/>
                  <a:ea typeface="Arial"/>
                  <a:cs typeface="Arial"/>
                  <a:sym typeface="Arial"/>
                </a:rPr>
                <a:t>Guardar y consultar las actividades realizadas en los terrenos.</a:t>
              </a:r>
            </a:p>
          </p:txBody>
        </p:sp>
      </p:grpSp>
      <p:sp>
        <p:nvSpPr>
          <p:cNvPr name="Freeform 46" id="46"/>
          <p:cNvSpPr/>
          <p:nvPr/>
        </p:nvSpPr>
        <p:spPr>
          <a:xfrm flipH="false" flipV="false" rot="0">
            <a:off x="16378933" y="-12697"/>
            <a:ext cx="1909067" cy="470108"/>
          </a:xfrm>
          <a:custGeom>
            <a:avLst/>
            <a:gdLst/>
            <a:ahLst/>
            <a:cxnLst/>
            <a:rect r="r" b="b" t="t" l="l"/>
            <a:pathLst>
              <a:path h="470108" w="1909067">
                <a:moveTo>
                  <a:pt x="0" y="0"/>
                </a:moveTo>
                <a:lnTo>
                  <a:pt x="1909067" y="0"/>
                </a:lnTo>
                <a:lnTo>
                  <a:pt x="1909067" y="470108"/>
                </a:lnTo>
                <a:lnTo>
                  <a:pt x="0" y="47010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671323"/>
            <a:chOff x="0" y="0"/>
            <a:chExt cx="24417871" cy="222843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17910" cy="2228469"/>
            </a:xfrm>
            <a:custGeom>
              <a:avLst/>
              <a:gdLst/>
              <a:ahLst/>
              <a:cxnLst/>
              <a:rect r="r" b="b" t="t" l="l"/>
              <a:pathLst>
                <a:path h="2228469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2228469"/>
                  </a:lnTo>
                  <a:lnTo>
                    <a:pt x="0" y="2228469"/>
                  </a:lnTo>
                  <a:close/>
                </a:path>
              </a:pathLst>
            </a:custGeom>
            <a:solidFill>
              <a:srgbClr val="1B4332"/>
            </a:solidFill>
            <a:ln w="2540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402336"/>
            <a:ext cx="16459200" cy="914400"/>
            <a:chOff x="0" y="0"/>
            <a:chExt cx="21945600" cy="1219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0730" r="0" b="-30073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21945600" cy="12382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9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Problemática identificada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14400" y="2011680"/>
            <a:ext cx="16459200" cy="731520"/>
            <a:chOff x="0" y="0"/>
            <a:chExt cx="21945600" cy="9753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975360"/>
            </a:xfrm>
            <a:custGeom>
              <a:avLst/>
              <a:gdLst/>
              <a:ahLst/>
              <a:cxnLst/>
              <a:rect r="r" b="b" t="t" l="l"/>
              <a:pathLst>
                <a:path h="97536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8413" r="0" b="-38841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21945600" cy="9944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1A1A1A"/>
                  </a:solidFill>
                  <a:latin typeface="Arial"/>
                  <a:ea typeface="Arial"/>
                  <a:cs typeface="Arial"/>
                  <a:sym typeface="Arial"/>
                </a:rPr>
                <a:t>Actualmente, el cliente registra parte de la información agrícola de forma manual o en distintos medios.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718823" y="3004823"/>
            <a:ext cx="8072123" cy="6426203"/>
            <a:chOff x="0" y="0"/>
            <a:chExt cx="10762831" cy="856827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762869" cy="8568310"/>
            </a:xfrm>
            <a:custGeom>
              <a:avLst/>
              <a:gdLst/>
              <a:ahLst/>
              <a:cxnLst/>
              <a:rect r="r" b="b" t="t" l="l"/>
              <a:pathLst>
                <a:path h="8568310" w="10762869">
                  <a:moveTo>
                    <a:pt x="0" y="244856"/>
                  </a:moveTo>
                  <a:cubicBezTo>
                    <a:pt x="0" y="109601"/>
                    <a:pt x="109601" y="0"/>
                    <a:pt x="244856" y="0"/>
                  </a:cubicBezTo>
                  <a:lnTo>
                    <a:pt x="10518013" y="0"/>
                  </a:lnTo>
                  <a:cubicBezTo>
                    <a:pt x="10653268" y="0"/>
                    <a:pt x="10762869" y="109601"/>
                    <a:pt x="10762869" y="244856"/>
                  </a:cubicBezTo>
                  <a:lnTo>
                    <a:pt x="10762869" y="8323453"/>
                  </a:lnTo>
                  <a:cubicBezTo>
                    <a:pt x="10762869" y="8458708"/>
                    <a:pt x="10653268" y="8568310"/>
                    <a:pt x="10518013" y="8568310"/>
                  </a:cubicBezTo>
                  <a:lnTo>
                    <a:pt x="244856" y="8568310"/>
                  </a:lnTo>
                  <a:cubicBezTo>
                    <a:pt x="109601" y="8568309"/>
                    <a:pt x="0" y="8458708"/>
                    <a:pt x="0" y="8323453"/>
                  </a:cubicBez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718823" y="3004823"/>
            <a:ext cx="8072123" cy="939803"/>
            <a:chOff x="0" y="0"/>
            <a:chExt cx="10762831" cy="125307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762869" cy="1253109"/>
            </a:xfrm>
            <a:custGeom>
              <a:avLst/>
              <a:gdLst/>
              <a:ahLst/>
              <a:cxnLst/>
              <a:rect r="r" b="b" t="t" l="l"/>
              <a:pathLst>
                <a:path h="1253109" w="10762869">
                  <a:moveTo>
                    <a:pt x="0" y="0"/>
                  </a:moveTo>
                  <a:lnTo>
                    <a:pt x="10762869" y="0"/>
                  </a:lnTo>
                  <a:lnTo>
                    <a:pt x="10762869" y="1253109"/>
                  </a:lnTo>
                  <a:lnTo>
                    <a:pt x="0" y="1253109"/>
                  </a:lnTo>
                  <a:close/>
                </a:path>
              </a:pathLst>
            </a:custGeom>
            <a:solidFill>
              <a:srgbClr val="6C757D"/>
            </a:solidFill>
            <a:ln w="2540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005840" y="3145536"/>
            <a:ext cx="7498080" cy="640080"/>
            <a:chOff x="0" y="0"/>
            <a:chExt cx="9997440" cy="8534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997440" cy="853440"/>
            </a:xfrm>
            <a:custGeom>
              <a:avLst/>
              <a:gdLst/>
              <a:ahLst/>
              <a:cxnLst/>
              <a:rect r="r" b="b" t="t" l="l"/>
              <a:pathLst>
                <a:path h="85344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8253" r="0" b="-178253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9997440" cy="8820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Situación actual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188720" y="4297680"/>
            <a:ext cx="7315200" cy="822960"/>
            <a:chOff x="0" y="0"/>
            <a:chExt cx="9753600" cy="109728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7536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3200" r="0" b="-12320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19050"/>
              <a:ext cx="975360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1A1A1A"/>
                  </a:solidFill>
                  <a:latin typeface="Arial"/>
                  <a:ea typeface="Arial"/>
                  <a:cs typeface="Arial"/>
                  <a:sym typeface="Arial"/>
                </a:rPr>
                <a:t>•  Información dispersa en cuadernos y medios distintos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188720" y="5175504"/>
            <a:ext cx="7315200" cy="822960"/>
            <a:chOff x="0" y="0"/>
            <a:chExt cx="9753600" cy="109728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7536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3200" r="0" b="-12320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19050"/>
              <a:ext cx="975360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1A1A1A"/>
                  </a:solidFill>
                  <a:latin typeface="Arial"/>
                  <a:ea typeface="Arial"/>
                  <a:cs typeface="Arial"/>
                  <a:sym typeface="Arial"/>
                </a:rPr>
                <a:t>•  Posible pérdida de datos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188720" y="6053328"/>
            <a:ext cx="7315200" cy="822960"/>
            <a:chOff x="0" y="0"/>
            <a:chExt cx="9753600" cy="109728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97536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3200" r="0" b="-12320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19050"/>
              <a:ext cx="975360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1A1A1A"/>
                  </a:solidFill>
                  <a:latin typeface="Arial"/>
                  <a:ea typeface="Arial"/>
                  <a:cs typeface="Arial"/>
                  <a:sym typeface="Arial"/>
                </a:rPr>
                <a:t>•  Repetición de cálculos manuales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188720" y="6931152"/>
            <a:ext cx="7315200" cy="822960"/>
            <a:chOff x="0" y="0"/>
            <a:chExt cx="9753600" cy="109728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97536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3200" r="0" b="-12320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19050"/>
              <a:ext cx="975360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1A1A1A"/>
                  </a:solidFill>
                  <a:latin typeface="Arial"/>
                  <a:ea typeface="Arial"/>
                  <a:cs typeface="Arial"/>
                  <a:sym typeface="Arial"/>
                </a:rPr>
                <a:t>•  Dificultad para consultar actividades anteriores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188720" y="7808976"/>
            <a:ext cx="7315200" cy="822960"/>
            <a:chOff x="0" y="0"/>
            <a:chExt cx="9753600" cy="109728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97536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3200" r="0" b="-12320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19050"/>
              <a:ext cx="975360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1A1A1A"/>
                  </a:solidFill>
                  <a:latin typeface="Arial"/>
                  <a:ea typeface="Arial"/>
                  <a:cs typeface="Arial"/>
                  <a:sym typeface="Arial"/>
                </a:rPr>
                <a:t>•  Falta de un historial centralizado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9497063" y="3004823"/>
            <a:ext cx="8072123" cy="6426203"/>
            <a:chOff x="0" y="0"/>
            <a:chExt cx="10762831" cy="8568271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762869" cy="8568310"/>
            </a:xfrm>
            <a:custGeom>
              <a:avLst/>
              <a:gdLst/>
              <a:ahLst/>
              <a:cxnLst/>
              <a:rect r="r" b="b" t="t" l="l"/>
              <a:pathLst>
                <a:path h="8568310" w="10762869">
                  <a:moveTo>
                    <a:pt x="0" y="244856"/>
                  </a:moveTo>
                  <a:cubicBezTo>
                    <a:pt x="0" y="109601"/>
                    <a:pt x="109601" y="0"/>
                    <a:pt x="244856" y="0"/>
                  </a:cubicBezTo>
                  <a:lnTo>
                    <a:pt x="10518013" y="0"/>
                  </a:lnTo>
                  <a:cubicBezTo>
                    <a:pt x="10653268" y="0"/>
                    <a:pt x="10762869" y="109601"/>
                    <a:pt x="10762869" y="244856"/>
                  </a:cubicBezTo>
                  <a:lnTo>
                    <a:pt x="10762869" y="8323453"/>
                  </a:lnTo>
                  <a:cubicBezTo>
                    <a:pt x="10762869" y="8458708"/>
                    <a:pt x="10653268" y="8568310"/>
                    <a:pt x="10518013" y="8568310"/>
                  </a:cubicBezTo>
                  <a:lnTo>
                    <a:pt x="244856" y="8568310"/>
                  </a:lnTo>
                  <a:cubicBezTo>
                    <a:pt x="109601" y="8568309"/>
                    <a:pt x="0" y="8458708"/>
                    <a:pt x="0" y="8323453"/>
                  </a:cubicBez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9497063" y="3004823"/>
            <a:ext cx="8072123" cy="939803"/>
            <a:chOff x="0" y="0"/>
            <a:chExt cx="10762831" cy="1253071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0762869" cy="1253109"/>
            </a:xfrm>
            <a:custGeom>
              <a:avLst/>
              <a:gdLst/>
              <a:ahLst/>
              <a:cxnLst/>
              <a:rect r="r" b="b" t="t" l="l"/>
              <a:pathLst>
                <a:path h="1253109" w="10762869">
                  <a:moveTo>
                    <a:pt x="0" y="0"/>
                  </a:moveTo>
                  <a:lnTo>
                    <a:pt x="10762869" y="0"/>
                  </a:lnTo>
                  <a:lnTo>
                    <a:pt x="10762869" y="1253109"/>
                  </a:lnTo>
                  <a:lnTo>
                    <a:pt x="0" y="1253109"/>
                  </a:lnTo>
                  <a:close/>
                </a:path>
              </a:pathLst>
            </a:custGeom>
            <a:solidFill>
              <a:srgbClr val="2D6A4F"/>
            </a:solidFill>
            <a:ln w="2540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9784080" y="3145536"/>
            <a:ext cx="7498080" cy="640080"/>
            <a:chOff x="0" y="0"/>
            <a:chExt cx="9997440" cy="85344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9997440" cy="853440"/>
            </a:xfrm>
            <a:custGeom>
              <a:avLst/>
              <a:gdLst/>
              <a:ahLst/>
              <a:cxnLst/>
              <a:rect r="r" b="b" t="t" l="l"/>
              <a:pathLst>
                <a:path h="85344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8253" r="0" b="-178253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28575"/>
              <a:ext cx="9997440" cy="8820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Propuesta AgroAsesor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9966960" y="4297680"/>
            <a:ext cx="7315200" cy="822960"/>
            <a:chOff x="0" y="0"/>
            <a:chExt cx="9753600" cy="109728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97536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3200" r="0" b="-123200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19050"/>
              <a:ext cx="975360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1A1A1A"/>
                  </a:solidFill>
                  <a:latin typeface="Arial"/>
                  <a:ea typeface="Arial"/>
                  <a:cs typeface="Arial"/>
                  <a:sym typeface="Arial"/>
                </a:rPr>
                <a:t>•  Información centralizada en una plataforma web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9966960" y="5175504"/>
            <a:ext cx="7315200" cy="822960"/>
            <a:chOff x="0" y="0"/>
            <a:chExt cx="9753600" cy="109728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97536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3200" r="0" b="-123200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19050"/>
              <a:ext cx="975360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1A1A1A"/>
                  </a:solidFill>
                  <a:latin typeface="Arial"/>
                  <a:ea typeface="Arial"/>
                  <a:cs typeface="Arial"/>
                  <a:sym typeface="Arial"/>
                </a:rPr>
                <a:t>•  Registro seguro y organizado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9966960" y="6053328"/>
            <a:ext cx="7315200" cy="822960"/>
            <a:chOff x="0" y="0"/>
            <a:chExt cx="9753600" cy="109728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97536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3200" r="0" b="-123200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19050"/>
              <a:ext cx="975360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1A1A1A"/>
                  </a:solidFill>
                  <a:latin typeface="Arial"/>
                  <a:ea typeface="Arial"/>
                  <a:cs typeface="Arial"/>
                  <a:sym typeface="Arial"/>
                </a:rPr>
                <a:t>•  Cálculos automáticos y reutilizables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9966960" y="6931152"/>
            <a:ext cx="7315200" cy="822960"/>
            <a:chOff x="0" y="0"/>
            <a:chExt cx="9753600" cy="109728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97536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3200" r="0" b="-123200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19050"/>
              <a:ext cx="975360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1A1A1A"/>
                  </a:solidFill>
                  <a:latin typeface="Arial"/>
                  <a:ea typeface="Arial"/>
                  <a:cs typeface="Arial"/>
                  <a:sym typeface="Arial"/>
                </a:rPr>
                <a:t>•  Consulta rápida del historial de actividades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9966960" y="7808976"/>
            <a:ext cx="7315200" cy="822960"/>
            <a:chOff x="0" y="0"/>
            <a:chExt cx="9753600" cy="109728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97536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3200" r="0" b="-123200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19050"/>
              <a:ext cx="975360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1A1A1A"/>
                  </a:solidFill>
                  <a:latin typeface="Arial"/>
                  <a:ea typeface="Arial"/>
                  <a:cs typeface="Arial"/>
                  <a:sym typeface="Arial"/>
                </a:rPr>
                <a:t>•  Una sola herramienta para terrenos, cultivos y actividades</a:t>
              </a:r>
            </a:p>
          </p:txBody>
        </p:sp>
      </p:grpSp>
      <p:sp>
        <p:nvSpPr>
          <p:cNvPr name="Freeform 54" id="54"/>
          <p:cNvSpPr/>
          <p:nvPr/>
        </p:nvSpPr>
        <p:spPr>
          <a:xfrm flipH="false" flipV="false" rot="0">
            <a:off x="16378933" y="-12697"/>
            <a:ext cx="1909067" cy="470108"/>
          </a:xfrm>
          <a:custGeom>
            <a:avLst/>
            <a:gdLst/>
            <a:ahLst/>
            <a:cxnLst/>
            <a:rect r="r" b="b" t="t" l="l"/>
            <a:pathLst>
              <a:path h="470108" w="1909067">
                <a:moveTo>
                  <a:pt x="0" y="0"/>
                </a:moveTo>
                <a:lnTo>
                  <a:pt x="1909067" y="0"/>
                </a:lnTo>
                <a:lnTo>
                  <a:pt x="1909067" y="470108"/>
                </a:lnTo>
                <a:lnTo>
                  <a:pt x="0" y="4701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671323"/>
            <a:chOff x="0" y="0"/>
            <a:chExt cx="24417871" cy="222843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17910" cy="2228469"/>
            </a:xfrm>
            <a:custGeom>
              <a:avLst/>
              <a:gdLst/>
              <a:ahLst/>
              <a:cxnLst/>
              <a:rect r="r" b="b" t="t" l="l"/>
              <a:pathLst>
                <a:path h="2228469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2228469"/>
                  </a:lnTo>
                  <a:lnTo>
                    <a:pt x="0" y="2228469"/>
                  </a:lnTo>
                  <a:close/>
                </a:path>
              </a:pathLst>
            </a:custGeom>
            <a:solidFill>
              <a:srgbClr val="1B4332"/>
            </a:solidFill>
            <a:ln w="2540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402336"/>
            <a:ext cx="16459200" cy="914400"/>
            <a:chOff x="0" y="0"/>
            <a:chExt cx="21945600" cy="1219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0730" r="0" b="-30073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21945600" cy="12382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9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Objetivos del proyecto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718823" y="2090423"/>
            <a:ext cx="16850363" cy="2128523"/>
            <a:chOff x="0" y="0"/>
            <a:chExt cx="22467151" cy="283803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467061" cy="2837942"/>
            </a:xfrm>
            <a:custGeom>
              <a:avLst/>
              <a:gdLst/>
              <a:ahLst/>
              <a:cxnLst/>
              <a:rect r="r" b="b" t="t" l="l"/>
              <a:pathLst>
                <a:path h="2837942" w="22467061">
                  <a:moveTo>
                    <a:pt x="0" y="246761"/>
                  </a:moveTo>
                  <a:cubicBezTo>
                    <a:pt x="0" y="110490"/>
                    <a:pt x="110490" y="0"/>
                    <a:pt x="246761" y="0"/>
                  </a:cubicBezTo>
                  <a:lnTo>
                    <a:pt x="22220301" y="0"/>
                  </a:lnTo>
                  <a:cubicBezTo>
                    <a:pt x="22356572" y="0"/>
                    <a:pt x="22467061" y="110490"/>
                    <a:pt x="22467061" y="246761"/>
                  </a:cubicBezTo>
                  <a:lnTo>
                    <a:pt x="22467061" y="2591181"/>
                  </a:lnTo>
                  <a:cubicBezTo>
                    <a:pt x="22467061" y="2727452"/>
                    <a:pt x="22356572" y="2837942"/>
                    <a:pt x="22220301" y="2837942"/>
                  </a:cubicBezTo>
                  <a:lnTo>
                    <a:pt x="246761" y="2837942"/>
                  </a:lnTo>
                  <a:cubicBezTo>
                    <a:pt x="110490" y="2838069"/>
                    <a:pt x="0" y="2727579"/>
                    <a:pt x="0" y="2591181"/>
                  </a:cubicBezTo>
                  <a:close/>
                </a:path>
              </a:pathLst>
            </a:custGeom>
            <a:solidFill>
              <a:srgbClr val="1B4332"/>
            </a:solidFill>
            <a:ln w="2540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188720" y="2286000"/>
            <a:ext cx="15910560" cy="512064"/>
            <a:chOff x="0" y="0"/>
            <a:chExt cx="21214080" cy="68275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214080" cy="682752"/>
            </a:xfrm>
            <a:custGeom>
              <a:avLst/>
              <a:gdLst/>
              <a:ahLst/>
              <a:cxnLst/>
              <a:rect r="r" b="b" t="t" l="l"/>
              <a:pathLst>
                <a:path h="682752" w="21214080">
                  <a:moveTo>
                    <a:pt x="0" y="0"/>
                  </a:moveTo>
                  <a:lnTo>
                    <a:pt x="21214080" y="0"/>
                  </a:lnTo>
                  <a:lnTo>
                    <a:pt x="212140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55427" r="0" b="-555427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21214080" cy="7018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b="true" sz="2199" spc="300">
                  <a:solidFill>
                    <a:srgbClr val="74C69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OBJETIVO GENERAL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188720" y="2834640"/>
            <a:ext cx="15910560" cy="1097280"/>
            <a:chOff x="0" y="0"/>
            <a:chExt cx="21214080" cy="14630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21408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214080">
                  <a:moveTo>
                    <a:pt x="0" y="0"/>
                  </a:moveTo>
                  <a:lnTo>
                    <a:pt x="21214080" y="0"/>
                  </a:lnTo>
                  <a:lnTo>
                    <a:pt x="2121408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2533" r="0" b="-232533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9050"/>
              <a:ext cx="21214080" cy="14820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Desarrollar una plataforma web básica que permita registrar terrenos y cultivos, realizar cálculos agrícolas simples y guardar un historial de actividades, apoyando la organización de la información del cliente.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14400" y="4572000"/>
            <a:ext cx="16459200" cy="640080"/>
            <a:chOff x="0" y="0"/>
            <a:chExt cx="21945600" cy="8534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945600" cy="853440"/>
            </a:xfrm>
            <a:custGeom>
              <a:avLst/>
              <a:gdLst/>
              <a:ahLst/>
              <a:cxnLst/>
              <a:rect r="r" b="b" t="t" l="l"/>
              <a:pathLst>
                <a:path h="8534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1043" r="0" b="-451043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28575"/>
              <a:ext cx="21945600" cy="8820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 b="true">
                  <a:solidFill>
                    <a:srgbClr val="1B4332"/>
                  </a:solidFill>
                  <a:latin typeface="Arial Bold"/>
                  <a:ea typeface="Arial Bold"/>
                  <a:cs typeface="Arial Bold"/>
                  <a:sym typeface="Arial Bold"/>
                </a:rPr>
                <a:t>Objetivos específicos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01703" y="5382263"/>
            <a:ext cx="1031243" cy="756923"/>
            <a:chOff x="0" y="0"/>
            <a:chExt cx="1374991" cy="100923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375029" cy="1009269"/>
            </a:xfrm>
            <a:custGeom>
              <a:avLst/>
              <a:gdLst/>
              <a:ahLst/>
              <a:cxnLst/>
              <a:rect r="r" b="b" t="t" l="l"/>
              <a:pathLst>
                <a:path h="1009269" w="1375029">
                  <a:moveTo>
                    <a:pt x="0" y="151384"/>
                  </a:moveTo>
                  <a:cubicBezTo>
                    <a:pt x="0" y="67818"/>
                    <a:pt x="67818" y="0"/>
                    <a:pt x="151384" y="0"/>
                  </a:cubicBezTo>
                  <a:lnTo>
                    <a:pt x="1223645" y="0"/>
                  </a:lnTo>
                  <a:cubicBezTo>
                    <a:pt x="1307211" y="0"/>
                    <a:pt x="1375029" y="67818"/>
                    <a:pt x="1375029" y="151384"/>
                  </a:cubicBezTo>
                  <a:lnTo>
                    <a:pt x="1375029" y="857885"/>
                  </a:lnTo>
                  <a:cubicBezTo>
                    <a:pt x="1375029" y="941451"/>
                    <a:pt x="1307211" y="1009269"/>
                    <a:pt x="1223645" y="1009269"/>
                  </a:cubicBezTo>
                  <a:lnTo>
                    <a:pt x="151384" y="1009269"/>
                  </a:lnTo>
                  <a:cubicBezTo>
                    <a:pt x="67818" y="1009269"/>
                    <a:pt x="0" y="941451"/>
                    <a:pt x="0" y="857885"/>
                  </a:cubicBezTo>
                  <a:close/>
                </a:path>
              </a:pathLst>
            </a:custGeom>
            <a:solidFill>
              <a:srgbClr val="2D6A4F"/>
            </a:solidFill>
            <a:ln w="2540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914400" y="5394960"/>
            <a:ext cx="1005840" cy="731520"/>
            <a:chOff x="0" y="0"/>
            <a:chExt cx="1341120" cy="97536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341120" cy="975360"/>
            </a:xfrm>
            <a:custGeom>
              <a:avLst/>
              <a:gdLst/>
              <a:ahLst/>
              <a:cxnLst/>
              <a:rect r="r" b="b" t="t" l="l"/>
              <a:pathLst>
                <a:path h="97536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3311" t="0" r="-43311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1341120" cy="9848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01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2194560" y="5394960"/>
            <a:ext cx="14996160" cy="731520"/>
            <a:chOff x="0" y="0"/>
            <a:chExt cx="19994880" cy="97536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9994880" cy="975360"/>
            </a:xfrm>
            <a:custGeom>
              <a:avLst/>
              <a:gdLst/>
              <a:ahLst/>
              <a:cxnLst/>
              <a:rect r="r" b="b" t="t" l="l"/>
              <a:pathLst>
                <a:path h="975360" w="19994880">
                  <a:moveTo>
                    <a:pt x="0" y="0"/>
                  </a:moveTo>
                  <a:lnTo>
                    <a:pt x="19994880" y="0"/>
                  </a:lnTo>
                  <a:lnTo>
                    <a:pt x="1999488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9443" r="0" b="-349443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19050"/>
              <a:ext cx="19994880" cy="9944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1A1A1A"/>
                  </a:solidFill>
                  <a:latin typeface="Arial"/>
                  <a:ea typeface="Arial"/>
                  <a:cs typeface="Arial"/>
                  <a:sym typeface="Arial"/>
                </a:rPr>
                <a:t>Levantar y documentar las necesidades del cliente.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901703" y="6260087"/>
            <a:ext cx="1031243" cy="756923"/>
            <a:chOff x="0" y="0"/>
            <a:chExt cx="1374991" cy="1009231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375029" cy="1009269"/>
            </a:xfrm>
            <a:custGeom>
              <a:avLst/>
              <a:gdLst/>
              <a:ahLst/>
              <a:cxnLst/>
              <a:rect r="r" b="b" t="t" l="l"/>
              <a:pathLst>
                <a:path h="1009269" w="1375029">
                  <a:moveTo>
                    <a:pt x="0" y="151384"/>
                  </a:moveTo>
                  <a:cubicBezTo>
                    <a:pt x="0" y="67818"/>
                    <a:pt x="67818" y="0"/>
                    <a:pt x="151384" y="0"/>
                  </a:cubicBezTo>
                  <a:lnTo>
                    <a:pt x="1223645" y="0"/>
                  </a:lnTo>
                  <a:cubicBezTo>
                    <a:pt x="1307211" y="0"/>
                    <a:pt x="1375029" y="67818"/>
                    <a:pt x="1375029" y="151384"/>
                  </a:cubicBezTo>
                  <a:lnTo>
                    <a:pt x="1375029" y="857885"/>
                  </a:lnTo>
                  <a:cubicBezTo>
                    <a:pt x="1375029" y="941451"/>
                    <a:pt x="1307211" y="1009269"/>
                    <a:pt x="1223645" y="1009269"/>
                  </a:cubicBezTo>
                  <a:lnTo>
                    <a:pt x="151384" y="1009269"/>
                  </a:lnTo>
                  <a:cubicBezTo>
                    <a:pt x="67818" y="1009269"/>
                    <a:pt x="0" y="941451"/>
                    <a:pt x="0" y="857885"/>
                  </a:cubicBezTo>
                  <a:close/>
                </a:path>
              </a:pathLst>
            </a:custGeom>
            <a:solidFill>
              <a:srgbClr val="2D6A4F"/>
            </a:solidFill>
            <a:ln w="2540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914400" y="6272784"/>
            <a:ext cx="1005840" cy="731520"/>
            <a:chOff x="0" y="0"/>
            <a:chExt cx="1341120" cy="97536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341120" cy="975360"/>
            </a:xfrm>
            <a:custGeom>
              <a:avLst/>
              <a:gdLst/>
              <a:ahLst/>
              <a:cxnLst/>
              <a:rect r="r" b="b" t="t" l="l"/>
              <a:pathLst>
                <a:path h="97536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3311" t="0" r="-43311" b="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9525"/>
              <a:ext cx="1341120" cy="9848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02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2194560" y="6272784"/>
            <a:ext cx="14996160" cy="731520"/>
            <a:chOff x="0" y="0"/>
            <a:chExt cx="19994880" cy="97536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9994880" cy="975360"/>
            </a:xfrm>
            <a:custGeom>
              <a:avLst/>
              <a:gdLst/>
              <a:ahLst/>
              <a:cxnLst/>
              <a:rect r="r" b="b" t="t" l="l"/>
              <a:pathLst>
                <a:path h="975360" w="19994880">
                  <a:moveTo>
                    <a:pt x="0" y="0"/>
                  </a:moveTo>
                  <a:lnTo>
                    <a:pt x="19994880" y="0"/>
                  </a:lnTo>
                  <a:lnTo>
                    <a:pt x="1999488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9443" r="0" b="-349443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19050"/>
              <a:ext cx="19994880" cy="9944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1A1A1A"/>
                  </a:solidFill>
                  <a:latin typeface="Arial"/>
                  <a:ea typeface="Arial"/>
                  <a:cs typeface="Arial"/>
                  <a:sym typeface="Arial"/>
                </a:rPr>
                <a:t>Diseñar prototipos de las pantallas principales.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901703" y="7137911"/>
            <a:ext cx="1031243" cy="756923"/>
            <a:chOff x="0" y="0"/>
            <a:chExt cx="1374991" cy="1009231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375029" cy="1009269"/>
            </a:xfrm>
            <a:custGeom>
              <a:avLst/>
              <a:gdLst/>
              <a:ahLst/>
              <a:cxnLst/>
              <a:rect r="r" b="b" t="t" l="l"/>
              <a:pathLst>
                <a:path h="1009269" w="1375029">
                  <a:moveTo>
                    <a:pt x="0" y="151384"/>
                  </a:moveTo>
                  <a:cubicBezTo>
                    <a:pt x="0" y="67818"/>
                    <a:pt x="67818" y="0"/>
                    <a:pt x="151384" y="0"/>
                  </a:cubicBezTo>
                  <a:lnTo>
                    <a:pt x="1223645" y="0"/>
                  </a:lnTo>
                  <a:cubicBezTo>
                    <a:pt x="1307211" y="0"/>
                    <a:pt x="1375029" y="67818"/>
                    <a:pt x="1375029" y="151384"/>
                  </a:cubicBezTo>
                  <a:lnTo>
                    <a:pt x="1375029" y="857885"/>
                  </a:lnTo>
                  <a:cubicBezTo>
                    <a:pt x="1375029" y="941451"/>
                    <a:pt x="1307211" y="1009269"/>
                    <a:pt x="1223645" y="1009269"/>
                  </a:cubicBezTo>
                  <a:lnTo>
                    <a:pt x="151384" y="1009269"/>
                  </a:lnTo>
                  <a:cubicBezTo>
                    <a:pt x="67818" y="1009269"/>
                    <a:pt x="0" y="941451"/>
                    <a:pt x="0" y="857885"/>
                  </a:cubicBezTo>
                  <a:close/>
                </a:path>
              </a:pathLst>
            </a:custGeom>
            <a:solidFill>
              <a:srgbClr val="2D6A4F"/>
            </a:solidFill>
            <a:ln w="2540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914400" y="7150608"/>
            <a:ext cx="1005840" cy="731520"/>
            <a:chOff x="0" y="0"/>
            <a:chExt cx="1341120" cy="97536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341120" cy="975360"/>
            </a:xfrm>
            <a:custGeom>
              <a:avLst/>
              <a:gdLst/>
              <a:ahLst/>
              <a:cxnLst/>
              <a:rect r="r" b="b" t="t" l="l"/>
              <a:pathLst>
                <a:path h="97536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3311" t="0" r="-43311" b="0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9525"/>
              <a:ext cx="1341120" cy="9848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03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2194560" y="7150608"/>
            <a:ext cx="14996160" cy="731520"/>
            <a:chOff x="0" y="0"/>
            <a:chExt cx="19994880" cy="97536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9994880" cy="975360"/>
            </a:xfrm>
            <a:custGeom>
              <a:avLst/>
              <a:gdLst/>
              <a:ahLst/>
              <a:cxnLst/>
              <a:rect r="r" b="b" t="t" l="l"/>
              <a:pathLst>
                <a:path h="975360" w="19994880">
                  <a:moveTo>
                    <a:pt x="0" y="0"/>
                  </a:moveTo>
                  <a:lnTo>
                    <a:pt x="19994880" y="0"/>
                  </a:lnTo>
                  <a:lnTo>
                    <a:pt x="1999488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9443" r="0" b="-349443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19050"/>
              <a:ext cx="19994880" cy="9944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1A1A1A"/>
                  </a:solidFill>
                  <a:latin typeface="Arial"/>
                  <a:ea typeface="Arial"/>
                  <a:cs typeface="Arial"/>
                  <a:sym typeface="Arial"/>
                </a:rPr>
                <a:t>Crear una base de datos para terrenos, cultivos y actividades.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901703" y="8015735"/>
            <a:ext cx="1031243" cy="756923"/>
            <a:chOff x="0" y="0"/>
            <a:chExt cx="1374991" cy="1009231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375029" cy="1009269"/>
            </a:xfrm>
            <a:custGeom>
              <a:avLst/>
              <a:gdLst/>
              <a:ahLst/>
              <a:cxnLst/>
              <a:rect r="r" b="b" t="t" l="l"/>
              <a:pathLst>
                <a:path h="1009269" w="1375029">
                  <a:moveTo>
                    <a:pt x="0" y="151384"/>
                  </a:moveTo>
                  <a:cubicBezTo>
                    <a:pt x="0" y="67818"/>
                    <a:pt x="67818" y="0"/>
                    <a:pt x="151384" y="0"/>
                  </a:cubicBezTo>
                  <a:lnTo>
                    <a:pt x="1223645" y="0"/>
                  </a:lnTo>
                  <a:cubicBezTo>
                    <a:pt x="1307211" y="0"/>
                    <a:pt x="1375029" y="67818"/>
                    <a:pt x="1375029" y="151384"/>
                  </a:cubicBezTo>
                  <a:lnTo>
                    <a:pt x="1375029" y="857885"/>
                  </a:lnTo>
                  <a:cubicBezTo>
                    <a:pt x="1375029" y="941451"/>
                    <a:pt x="1307211" y="1009269"/>
                    <a:pt x="1223645" y="1009269"/>
                  </a:cubicBezTo>
                  <a:lnTo>
                    <a:pt x="151384" y="1009269"/>
                  </a:lnTo>
                  <a:cubicBezTo>
                    <a:pt x="67818" y="1009269"/>
                    <a:pt x="0" y="941451"/>
                    <a:pt x="0" y="857885"/>
                  </a:cubicBezTo>
                  <a:close/>
                </a:path>
              </a:pathLst>
            </a:custGeom>
            <a:solidFill>
              <a:srgbClr val="2D6A4F"/>
            </a:solidFill>
            <a:ln w="2540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44" id="44"/>
          <p:cNvGrpSpPr/>
          <p:nvPr/>
        </p:nvGrpSpPr>
        <p:grpSpPr>
          <a:xfrm rot="0">
            <a:off x="914400" y="8028432"/>
            <a:ext cx="1005840" cy="731520"/>
            <a:chOff x="0" y="0"/>
            <a:chExt cx="1341120" cy="97536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341120" cy="975360"/>
            </a:xfrm>
            <a:custGeom>
              <a:avLst/>
              <a:gdLst/>
              <a:ahLst/>
              <a:cxnLst/>
              <a:rect r="r" b="b" t="t" l="l"/>
              <a:pathLst>
                <a:path h="97536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3311" t="0" r="-43311" b="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9525"/>
              <a:ext cx="1341120" cy="9848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04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2194560" y="8028432"/>
            <a:ext cx="14996160" cy="731520"/>
            <a:chOff x="0" y="0"/>
            <a:chExt cx="19994880" cy="97536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9994880" cy="975360"/>
            </a:xfrm>
            <a:custGeom>
              <a:avLst/>
              <a:gdLst/>
              <a:ahLst/>
              <a:cxnLst/>
              <a:rect r="r" b="b" t="t" l="l"/>
              <a:pathLst>
                <a:path h="975360" w="19994880">
                  <a:moveTo>
                    <a:pt x="0" y="0"/>
                  </a:moveTo>
                  <a:lnTo>
                    <a:pt x="19994880" y="0"/>
                  </a:lnTo>
                  <a:lnTo>
                    <a:pt x="1999488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9443" r="0" b="-349443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19050"/>
              <a:ext cx="19994880" cy="9944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1A1A1A"/>
                  </a:solidFill>
                  <a:latin typeface="Arial"/>
                  <a:ea typeface="Arial"/>
                  <a:cs typeface="Arial"/>
                  <a:sym typeface="Arial"/>
                </a:rPr>
                <a:t>Desarrollar e integrar los módulos del sistema.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901703" y="8893559"/>
            <a:ext cx="1031243" cy="756923"/>
            <a:chOff x="0" y="0"/>
            <a:chExt cx="1374991" cy="1009231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375029" cy="1009269"/>
            </a:xfrm>
            <a:custGeom>
              <a:avLst/>
              <a:gdLst/>
              <a:ahLst/>
              <a:cxnLst/>
              <a:rect r="r" b="b" t="t" l="l"/>
              <a:pathLst>
                <a:path h="1009269" w="1375029">
                  <a:moveTo>
                    <a:pt x="0" y="151384"/>
                  </a:moveTo>
                  <a:cubicBezTo>
                    <a:pt x="0" y="67818"/>
                    <a:pt x="67818" y="0"/>
                    <a:pt x="151384" y="0"/>
                  </a:cubicBezTo>
                  <a:lnTo>
                    <a:pt x="1223645" y="0"/>
                  </a:lnTo>
                  <a:cubicBezTo>
                    <a:pt x="1307211" y="0"/>
                    <a:pt x="1375029" y="67818"/>
                    <a:pt x="1375029" y="151384"/>
                  </a:cubicBezTo>
                  <a:lnTo>
                    <a:pt x="1375029" y="857885"/>
                  </a:lnTo>
                  <a:cubicBezTo>
                    <a:pt x="1375029" y="941451"/>
                    <a:pt x="1307211" y="1009269"/>
                    <a:pt x="1223645" y="1009269"/>
                  </a:cubicBezTo>
                  <a:lnTo>
                    <a:pt x="151384" y="1009269"/>
                  </a:lnTo>
                  <a:cubicBezTo>
                    <a:pt x="67818" y="1009269"/>
                    <a:pt x="0" y="941451"/>
                    <a:pt x="0" y="857885"/>
                  </a:cubicBezTo>
                  <a:close/>
                </a:path>
              </a:pathLst>
            </a:custGeom>
            <a:solidFill>
              <a:srgbClr val="2D6A4F"/>
            </a:solidFill>
            <a:ln w="2540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52" id="52"/>
          <p:cNvGrpSpPr/>
          <p:nvPr/>
        </p:nvGrpSpPr>
        <p:grpSpPr>
          <a:xfrm rot="0">
            <a:off x="914400" y="8906256"/>
            <a:ext cx="1005840" cy="731520"/>
            <a:chOff x="0" y="0"/>
            <a:chExt cx="1341120" cy="97536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341120" cy="975360"/>
            </a:xfrm>
            <a:custGeom>
              <a:avLst/>
              <a:gdLst/>
              <a:ahLst/>
              <a:cxnLst/>
              <a:rect r="r" b="b" t="t" l="l"/>
              <a:pathLst>
                <a:path h="97536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3311" t="0" r="-43311" b="0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9525"/>
              <a:ext cx="1341120" cy="9848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05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2194560" y="8906256"/>
            <a:ext cx="14996160" cy="731520"/>
            <a:chOff x="0" y="0"/>
            <a:chExt cx="19994880" cy="97536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9994880" cy="975360"/>
            </a:xfrm>
            <a:custGeom>
              <a:avLst/>
              <a:gdLst/>
              <a:ahLst/>
              <a:cxnLst/>
              <a:rect r="r" b="b" t="t" l="l"/>
              <a:pathLst>
                <a:path h="975360" w="19994880">
                  <a:moveTo>
                    <a:pt x="0" y="0"/>
                  </a:moveTo>
                  <a:lnTo>
                    <a:pt x="19994880" y="0"/>
                  </a:lnTo>
                  <a:lnTo>
                    <a:pt x="1999488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9443" r="0" b="-349443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19050"/>
              <a:ext cx="19994880" cy="9944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1A1A1A"/>
                  </a:solidFill>
                  <a:latin typeface="Arial"/>
                  <a:ea typeface="Arial"/>
                  <a:cs typeface="Arial"/>
                  <a:sym typeface="Arial"/>
                </a:rPr>
                <a:t>Realizar pruebas funcionales y validar la propuesta con el cliente.</a:t>
              </a:r>
            </a:p>
          </p:txBody>
        </p:sp>
      </p:grpSp>
      <p:sp>
        <p:nvSpPr>
          <p:cNvPr name="Freeform 58" id="58"/>
          <p:cNvSpPr/>
          <p:nvPr/>
        </p:nvSpPr>
        <p:spPr>
          <a:xfrm flipH="false" flipV="false" rot="0">
            <a:off x="16378933" y="-12697"/>
            <a:ext cx="1909067" cy="470108"/>
          </a:xfrm>
          <a:custGeom>
            <a:avLst/>
            <a:gdLst/>
            <a:ahLst/>
            <a:cxnLst/>
            <a:rect r="r" b="b" t="t" l="l"/>
            <a:pathLst>
              <a:path h="470108" w="1909067">
                <a:moveTo>
                  <a:pt x="0" y="0"/>
                </a:moveTo>
                <a:lnTo>
                  <a:pt x="1909067" y="0"/>
                </a:lnTo>
                <a:lnTo>
                  <a:pt x="1909067" y="470108"/>
                </a:lnTo>
                <a:lnTo>
                  <a:pt x="0" y="4701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397003"/>
            <a:chOff x="0" y="0"/>
            <a:chExt cx="24417871" cy="18626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17910" cy="1862709"/>
            </a:xfrm>
            <a:custGeom>
              <a:avLst/>
              <a:gdLst/>
              <a:ahLst/>
              <a:cxnLst/>
              <a:rect r="r" b="b" t="t" l="l"/>
              <a:pathLst>
                <a:path h="1862709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1862709"/>
                  </a:lnTo>
                  <a:lnTo>
                    <a:pt x="0" y="1862709"/>
                  </a:lnTo>
                  <a:close/>
                </a:path>
              </a:pathLst>
            </a:custGeom>
            <a:solidFill>
              <a:srgbClr val="1B4332"/>
            </a:solidFill>
            <a:ln w="2540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731520" y="329184"/>
            <a:ext cx="16459200" cy="731520"/>
            <a:chOff x="0" y="0"/>
            <a:chExt cx="21945600" cy="9753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975360"/>
            </a:xfrm>
            <a:custGeom>
              <a:avLst/>
              <a:gdLst/>
              <a:ahLst/>
              <a:cxnLst/>
              <a:rect r="r" b="b" t="t" l="l"/>
              <a:pathLst>
                <a:path h="97536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8413" r="0" b="-388413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21945600" cy="9944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Alcance de la primera versión  ·  MVP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444503" y="2600158"/>
            <a:ext cx="5694683" cy="5511803"/>
            <a:chOff x="0" y="0"/>
            <a:chExt cx="7592911" cy="734907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592822" cy="7348982"/>
            </a:xfrm>
            <a:custGeom>
              <a:avLst/>
              <a:gdLst/>
              <a:ahLst/>
              <a:cxnLst/>
              <a:rect r="r" b="b" t="t" l="l"/>
              <a:pathLst>
                <a:path h="7348982" w="7592822">
                  <a:moveTo>
                    <a:pt x="0" y="195961"/>
                  </a:moveTo>
                  <a:cubicBezTo>
                    <a:pt x="0" y="87757"/>
                    <a:pt x="87757" y="0"/>
                    <a:pt x="195961" y="0"/>
                  </a:cubicBezTo>
                  <a:lnTo>
                    <a:pt x="7396861" y="0"/>
                  </a:lnTo>
                  <a:cubicBezTo>
                    <a:pt x="7505065" y="0"/>
                    <a:pt x="7592822" y="87757"/>
                    <a:pt x="7592822" y="195961"/>
                  </a:cubicBezTo>
                  <a:lnTo>
                    <a:pt x="7592822" y="7153021"/>
                  </a:lnTo>
                  <a:cubicBezTo>
                    <a:pt x="7592822" y="7261225"/>
                    <a:pt x="7505065" y="7348982"/>
                    <a:pt x="7396861" y="7348982"/>
                  </a:cubicBezTo>
                  <a:lnTo>
                    <a:pt x="195961" y="7348982"/>
                  </a:lnTo>
                  <a:cubicBezTo>
                    <a:pt x="87757" y="7349109"/>
                    <a:pt x="0" y="7261352"/>
                    <a:pt x="0" y="7153021"/>
                  </a:cubicBez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731520" y="2795735"/>
            <a:ext cx="5120640" cy="2834640"/>
            <a:chOff x="0" y="0"/>
            <a:chExt cx="6827520" cy="3779520"/>
          </a:xfrm>
        </p:grpSpPr>
        <p:sp>
          <p:nvSpPr>
            <p:cNvPr name="Freeform 10" id="10" descr="/home/workdir/attachments/terrenos.png"/>
            <p:cNvSpPr/>
            <p:nvPr/>
          </p:nvSpPr>
          <p:spPr>
            <a:xfrm flipH="false" flipV="false" rot="0">
              <a:off x="0" y="0"/>
              <a:ext cx="6827520" cy="3779520"/>
            </a:xfrm>
            <a:custGeom>
              <a:avLst/>
              <a:gdLst/>
              <a:ahLst/>
              <a:cxnLst/>
              <a:rect r="r" b="b" t="t" l="l"/>
              <a:pathLst>
                <a:path h="377952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3779520"/>
                  </a:lnTo>
                  <a:lnTo>
                    <a:pt x="0" y="3779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-35483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731520" y="5813255"/>
            <a:ext cx="5120640" cy="548640"/>
            <a:chOff x="0" y="0"/>
            <a:chExt cx="6827520" cy="73152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827520" cy="731520"/>
            </a:xfrm>
            <a:custGeom>
              <a:avLst/>
              <a:gdLst/>
              <a:ahLst/>
              <a:cxnLst/>
              <a:rect r="r" b="b" t="t" l="l"/>
              <a:pathLst>
                <a:path h="73152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1860" r="0" b="-13186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682752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1B4332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1. Terrenos y cultivos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731520" y="6361895"/>
            <a:ext cx="5120640" cy="1280160"/>
            <a:chOff x="0" y="0"/>
            <a:chExt cx="6827520" cy="170688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827520" cy="1706880"/>
            </a:xfrm>
            <a:custGeom>
              <a:avLst/>
              <a:gdLst/>
              <a:ahLst/>
              <a:cxnLst/>
              <a:rect r="r" b="b" t="t" l="l"/>
              <a:pathLst>
                <a:path h="170688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940" r="0" b="-2794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19050"/>
              <a:ext cx="6827520" cy="17259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5C5C5C"/>
                  </a:solidFill>
                  <a:latin typeface="Arial"/>
                  <a:ea typeface="Arial"/>
                  <a:cs typeface="Arial"/>
                  <a:sym typeface="Arial"/>
                </a:rPr>
                <a:t>Superficie · Ubicación</a:t>
              </a:r>
            </a:p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5C5C5C"/>
                  </a:solidFill>
                  <a:latin typeface="Arial"/>
                  <a:ea typeface="Arial"/>
                  <a:cs typeface="Arial"/>
                  <a:sym typeface="Arial"/>
                </a:rPr>
                <a:t>Tipo de cultivo · Fecha de siembra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6296663" y="2600158"/>
            <a:ext cx="5694683" cy="5511803"/>
            <a:chOff x="0" y="0"/>
            <a:chExt cx="7592911" cy="734907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592822" cy="7348982"/>
            </a:xfrm>
            <a:custGeom>
              <a:avLst/>
              <a:gdLst/>
              <a:ahLst/>
              <a:cxnLst/>
              <a:rect r="r" b="b" t="t" l="l"/>
              <a:pathLst>
                <a:path h="7348982" w="7592822">
                  <a:moveTo>
                    <a:pt x="0" y="195961"/>
                  </a:moveTo>
                  <a:cubicBezTo>
                    <a:pt x="0" y="87757"/>
                    <a:pt x="87757" y="0"/>
                    <a:pt x="195961" y="0"/>
                  </a:cubicBezTo>
                  <a:lnTo>
                    <a:pt x="7396861" y="0"/>
                  </a:lnTo>
                  <a:cubicBezTo>
                    <a:pt x="7505065" y="0"/>
                    <a:pt x="7592822" y="87757"/>
                    <a:pt x="7592822" y="195961"/>
                  </a:cubicBezTo>
                  <a:lnTo>
                    <a:pt x="7592822" y="7153021"/>
                  </a:lnTo>
                  <a:cubicBezTo>
                    <a:pt x="7592822" y="7261225"/>
                    <a:pt x="7505065" y="7348982"/>
                    <a:pt x="7396861" y="7348982"/>
                  </a:cubicBezTo>
                  <a:lnTo>
                    <a:pt x="195961" y="7348982"/>
                  </a:lnTo>
                  <a:cubicBezTo>
                    <a:pt x="87757" y="7349109"/>
                    <a:pt x="0" y="7261352"/>
                    <a:pt x="0" y="7153021"/>
                  </a:cubicBez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6583680" y="2795735"/>
            <a:ext cx="5120640" cy="2834640"/>
            <a:chOff x="0" y="0"/>
            <a:chExt cx="6827520" cy="3779520"/>
          </a:xfrm>
        </p:grpSpPr>
        <p:sp>
          <p:nvSpPr>
            <p:cNvPr name="Freeform 20" id="20" descr="/home/workdir/attachments/calculadora.png"/>
            <p:cNvSpPr/>
            <p:nvPr/>
          </p:nvSpPr>
          <p:spPr>
            <a:xfrm flipH="false" flipV="false" rot="0">
              <a:off x="0" y="0"/>
              <a:ext cx="6827520" cy="3779520"/>
            </a:xfrm>
            <a:custGeom>
              <a:avLst/>
              <a:gdLst/>
              <a:ahLst/>
              <a:cxnLst/>
              <a:rect r="r" b="b" t="t" l="l"/>
              <a:pathLst>
                <a:path h="377952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3779520"/>
                  </a:lnTo>
                  <a:lnTo>
                    <a:pt x="0" y="3779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-35483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6583680" y="5813255"/>
            <a:ext cx="5120640" cy="548640"/>
            <a:chOff x="0" y="0"/>
            <a:chExt cx="6827520" cy="7315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827520" cy="731520"/>
            </a:xfrm>
            <a:custGeom>
              <a:avLst/>
              <a:gdLst/>
              <a:ahLst/>
              <a:cxnLst/>
              <a:rect r="r" b="b" t="t" l="l"/>
              <a:pathLst>
                <a:path h="73152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1860" r="0" b="-13186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19050"/>
              <a:ext cx="682752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1B4332"/>
                  </a:solidFill>
                  <a:latin typeface="Arial Bold"/>
                  <a:ea typeface="Arial Bold"/>
                  <a:cs typeface="Arial Bold"/>
                  <a:sym typeface="Arial Bold"/>
                </a:rPr>
                <a:t>2. Calculadora agrícola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6583680" y="6361895"/>
            <a:ext cx="5120640" cy="1280160"/>
            <a:chOff x="0" y="0"/>
            <a:chExt cx="6827520" cy="170688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827520" cy="1706880"/>
            </a:xfrm>
            <a:custGeom>
              <a:avLst/>
              <a:gdLst/>
              <a:ahLst/>
              <a:cxnLst/>
              <a:rect r="r" b="b" t="t" l="l"/>
              <a:pathLst>
                <a:path h="170688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940" r="0" b="-2794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19050"/>
              <a:ext cx="6827520" cy="17259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5C5C5C"/>
                  </a:solidFill>
                  <a:latin typeface="Arial"/>
                  <a:ea typeface="Arial"/>
                  <a:cs typeface="Arial"/>
                  <a:sym typeface="Arial"/>
                </a:rPr>
                <a:t>Superficie · Dosis o cantidad</a:t>
              </a:r>
            </a:p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5C5C5C"/>
                  </a:solidFill>
                  <a:latin typeface="Arial"/>
                  <a:ea typeface="Arial"/>
                  <a:cs typeface="Arial"/>
                  <a:sym typeface="Arial"/>
                </a:rPr>
                <a:t>Cálculo del total requerido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2148823" y="2600158"/>
            <a:ext cx="5694683" cy="5511803"/>
            <a:chOff x="0" y="0"/>
            <a:chExt cx="7592911" cy="7349071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592822" cy="7348982"/>
            </a:xfrm>
            <a:custGeom>
              <a:avLst/>
              <a:gdLst/>
              <a:ahLst/>
              <a:cxnLst/>
              <a:rect r="r" b="b" t="t" l="l"/>
              <a:pathLst>
                <a:path h="7348982" w="7592822">
                  <a:moveTo>
                    <a:pt x="0" y="195961"/>
                  </a:moveTo>
                  <a:cubicBezTo>
                    <a:pt x="0" y="87757"/>
                    <a:pt x="87757" y="0"/>
                    <a:pt x="195961" y="0"/>
                  </a:cubicBezTo>
                  <a:lnTo>
                    <a:pt x="7396861" y="0"/>
                  </a:lnTo>
                  <a:cubicBezTo>
                    <a:pt x="7505065" y="0"/>
                    <a:pt x="7592822" y="87757"/>
                    <a:pt x="7592822" y="195961"/>
                  </a:cubicBezTo>
                  <a:lnTo>
                    <a:pt x="7592822" y="7153021"/>
                  </a:lnTo>
                  <a:cubicBezTo>
                    <a:pt x="7592822" y="7261225"/>
                    <a:pt x="7505065" y="7348982"/>
                    <a:pt x="7396861" y="7348982"/>
                  </a:cubicBezTo>
                  <a:lnTo>
                    <a:pt x="195961" y="7348982"/>
                  </a:lnTo>
                  <a:cubicBezTo>
                    <a:pt x="87757" y="7349109"/>
                    <a:pt x="0" y="7261352"/>
                    <a:pt x="0" y="7153021"/>
                  </a:cubicBez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12435840" y="2795735"/>
            <a:ext cx="5120640" cy="2834640"/>
            <a:chOff x="0" y="0"/>
            <a:chExt cx="6827520" cy="3779520"/>
          </a:xfrm>
        </p:grpSpPr>
        <p:sp>
          <p:nvSpPr>
            <p:cNvPr name="Freeform 30" id="30" descr="/home/workdir/attachments/historial.png"/>
            <p:cNvSpPr/>
            <p:nvPr/>
          </p:nvSpPr>
          <p:spPr>
            <a:xfrm flipH="false" flipV="false" rot="0">
              <a:off x="0" y="0"/>
              <a:ext cx="6827520" cy="3779520"/>
            </a:xfrm>
            <a:custGeom>
              <a:avLst/>
              <a:gdLst/>
              <a:ahLst/>
              <a:cxnLst/>
              <a:rect r="r" b="b" t="t" l="l"/>
              <a:pathLst>
                <a:path h="377952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3779520"/>
                  </a:lnTo>
                  <a:lnTo>
                    <a:pt x="0" y="3779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-35483"/>
              </a:stretch>
            </a:blip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2435840" y="5813255"/>
            <a:ext cx="5120640" cy="548640"/>
            <a:chOff x="0" y="0"/>
            <a:chExt cx="6827520" cy="73152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827520" cy="731520"/>
            </a:xfrm>
            <a:custGeom>
              <a:avLst/>
              <a:gdLst/>
              <a:ahLst/>
              <a:cxnLst/>
              <a:rect r="r" b="b" t="t" l="l"/>
              <a:pathLst>
                <a:path h="73152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1860" r="0" b="-13186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19050"/>
              <a:ext cx="682752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1B4332"/>
                  </a:solidFill>
                  <a:latin typeface="Arial Bold"/>
                  <a:ea typeface="Arial Bold"/>
                  <a:cs typeface="Arial Bold"/>
                  <a:sym typeface="Arial Bold"/>
                </a:rPr>
                <a:t>3. Historial de actividades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2435840" y="6361895"/>
            <a:ext cx="5120640" cy="1280160"/>
            <a:chOff x="0" y="0"/>
            <a:chExt cx="6827520" cy="170688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6827520" cy="1706880"/>
            </a:xfrm>
            <a:custGeom>
              <a:avLst/>
              <a:gdLst/>
              <a:ahLst/>
              <a:cxnLst/>
              <a:rect r="r" b="b" t="t" l="l"/>
              <a:pathLst>
                <a:path h="170688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940" r="0" b="-2794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19050"/>
              <a:ext cx="6827520" cy="17259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5C5C5C"/>
                  </a:solidFill>
                  <a:latin typeface="Arial"/>
                  <a:ea typeface="Arial"/>
                  <a:cs typeface="Arial"/>
                  <a:sym typeface="Arial"/>
                </a:rPr>
                <a:t>Fecha · Terreno · Actividad</a:t>
              </a:r>
            </a:p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5C5C5C"/>
                  </a:solidFill>
                  <a:latin typeface="Arial"/>
                  <a:ea typeface="Arial"/>
                  <a:cs typeface="Arial"/>
                  <a:sym typeface="Arial"/>
                </a:rPr>
                <a:t>Observaciones</a:t>
              </a:r>
            </a:p>
          </p:txBody>
        </p:sp>
      </p:grpSp>
      <p:sp>
        <p:nvSpPr>
          <p:cNvPr name="Freeform 37" id="37"/>
          <p:cNvSpPr/>
          <p:nvPr/>
        </p:nvSpPr>
        <p:spPr>
          <a:xfrm flipH="false" flipV="false" rot="0">
            <a:off x="16378933" y="-12697"/>
            <a:ext cx="1909067" cy="470108"/>
          </a:xfrm>
          <a:custGeom>
            <a:avLst/>
            <a:gdLst/>
            <a:ahLst/>
            <a:cxnLst/>
            <a:rect r="r" b="b" t="t" l="l"/>
            <a:pathLst>
              <a:path h="470108" w="1909067">
                <a:moveTo>
                  <a:pt x="0" y="0"/>
                </a:moveTo>
                <a:lnTo>
                  <a:pt x="1909067" y="0"/>
                </a:lnTo>
                <a:lnTo>
                  <a:pt x="1909067" y="470108"/>
                </a:lnTo>
                <a:lnTo>
                  <a:pt x="0" y="47010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397003"/>
            <a:chOff x="0" y="0"/>
            <a:chExt cx="24417871" cy="18626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17910" cy="1862709"/>
            </a:xfrm>
            <a:custGeom>
              <a:avLst/>
              <a:gdLst/>
              <a:ahLst/>
              <a:cxnLst/>
              <a:rect r="r" b="b" t="t" l="l"/>
              <a:pathLst>
                <a:path h="1862709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1862709"/>
                  </a:lnTo>
                  <a:lnTo>
                    <a:pt x="0" y="1862709"/>
                  </a:lnTo>
                  <a:close/>
                </a:path>
              </a:pathLst>
            </a:custGeom>
            <a:solidFill>
              <a:srgbClr val="1B4332"/>
            </a:solidFill>
            <a:ln w="2540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731520" y="329184"/>
            <a:ext cx="16459200" cy="731520"/>
            <a:chOff x="0" y="0"/>
            <a:chExt cx="21945600" cy="9753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975360"/>
            </a:xfrm>
            <a:custGeom>
              <a:avLst/>
              <a:gdLst/>
              <a:ahLst/>
              <a:cxnLst/>
              <a:rect r="r" b="b" t="t" l="l"/>
              <a:pathLst>
                <a:path h="97536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8413" r="0" b="-388413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21945600" cy="9944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Hitos del proyecto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535943" y="1816103"/>
            <a:ext cx="5603243" cy="5786123"/>
            <a:chOff x="0" y="0"/>
            <a:chExt cx="7470991" cy="771483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471029" cy="7714869"/>
            </a:xfrm>
            <a:custGeom>
              <a:avLst/>
              <a:gdLst/>
              <a:ahLst/>
              <a:cxnLst/>
              <a:rect r="r" b="b" t="t" l="l"/>
              <a:pathLst>
                <a:path h="7714869" w="7471029">
                  <a:moveTo>
                    <a:pt x="0" y="195961"/>
                  </a:moveTo>
                  <a:cubicBezTo>
                    <a:pt x="0" y="87757"/>
                    <a:pt x="87757" y="0"/>
                    <a:pt x="195961" y="0"/>
                  </a:cubicBezTo>
                  <a:lnTo>
                    <a:pt x="7275068" y="0"/>
                  </a:lnTo>
                  <a:cubicBezTo>
                    <a:pt x="7383273" y="0"/>
                    <a:pt x="7471029" y="87757"/>
                    <a:pt x="7471029" y="195961"/>
                  </a:cubicBezTo>
                  <a:lnTo>
                    <a:pt x="7471029" y="7518908"/>
                  </a:lnTo>
                  <a:cubicBezTo>
                    <a:pt x="7471029" y="7627112"/>
                    <a:pt x="7383273" y="7714869"/>
                    <a:pt x="7275068" y="7714869"/>
                  </a:cubicBezTo>
                  <a:lnTo>
                    <a:pt x="195961" y="7714869"/>
                  </a:lnTo>
                  <a:cubicBezTo>
                    <a:pt x="87757" y="7714869"/>
                    <a:pt x="0" y="7627112"/>
                    <a:pt x="0" y="7518908"/>
                  </a:cubicBez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535943" y="1816103"/>
            <a:ext cx="5603243" cy="848363"/>
            <a:chOff x="0" y="0"/>
            <a:chExt cx="7470991" cy="113115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471029" cy="1131189"/>
            </a:xfrm>
            <a:custGeom>
              <a:avLst/>
              <a:gdLst/>
              <a:ahLst/>
              <a:cxnLst/>
              <a:rect r="r" b="b" t="t" l="l"/>
              <a:pathLst>
                <a:path h="1131189" w="7471029">
                  <a:moveTo>
                    <a:pt x="241300" y="0"/>
                  </a:moveTo>
                  <a:lnTo>
                    <a:pt x="7229729" y="0"/>
                  </a:lnTo>
                  <a:cubicBezTo>
                    <a:pt x="7362996" y="0"/>
                    <a:pt x="7471029" y="108034"/>
                    <a:pt x="7471029" y="241300"/>
                  </a:cubicBezTo>
                  <a:lnTo>
                    <a:pt x="7471029" y="889889"/>
                  </a:lnTo>
                  <a:cubicBezTo>
                    <a:pt x="7471029" y="1023155"/>
                    <a:pt x="7362996" y="1131189"/>
                    <a:pt x="7229729" y="1131189"/>
                  </a:cubicBezTo>
                  <a:lnTo>
                    <a:pt x="241300" y="1131189"/>
                  </a:lnTo>
                  <a:cubicBezTo>
                    <a:pt x="177303" y="1131189"/>
                    <a:pt x="115928" y="1105766"/>
                    <a:pt x="70675" y="1060514"/>
                  </a:cubicBezTo>
                  <a:cubicBezTo>
                    <a:pt x="25423" y="1015261"/>
                    <a:pt x="0" y="953886"/>
                    <a:pt x="0" y="889889"/>
                  </a:cubicBezTo>
                  <a:lnTo>
                    <a:pt x="0" y="241300"/>
                  </a:lnTo>
                  <a:cubicBezTo>
                    <a:pt x="0" y="108034"/>
                    <a:pt x="108034" y="0"/>
                    <a:pt x="241300" y="0"/>
                  </a:cubicBezTo>
                  <a:close/>
                </a:path>
              </a:pathLst>
            </a:custGeom>
            <a:solidFill>
              <a:srgbClr val="1B4332"/>
            </a:solidFill>
            <a:ln w="2540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731520" y="1920240"/>
            <a:ext cx="5212080" cy="640080"/>
            <a:chOff x="0" y="0"/>
            <a:chExt cx="6949440" cy="8534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949440" cy="853440"/>
            </a:xfrm>
            <a:custGeom>
              <a:avLst/>
              <a:gdLst/>
              <a:ahLst/>
              <a:cxnLst/>
              <a:rect r="r" b="b" t="t" l="l"/>
              <a:pathLst>
                <a:path h="853440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8663" r="0" b="-108663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"/>
              <a:ext cx="6949440" cy="8629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Fase 1 · Definición y diseño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822960" y="2926080"/>
            <a:ext cx="5029200" cy="658368"/>
            <a:chOff x="0" y="0"/>
            <a:chExt cx="6705600" cy="87782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705600" cy="877824"/>
            </a:xfrm>
            <a:custGeom>
              <a:avLst/>
              <a:gdLst/>
              <a:ahLst/>
              <a:cxnLst/>
              <a:rect r="r" b="b" t="t" l="l"/>
              <a:pathLst>
                <a:path h="877824" w="6705600">
                  <a:moveTo>
                    <a:pt x="0" y="0"/>
                  </a:moveTo>
                  <a:lnTo>
                    <a:pt x="6705600" y="0"/>
                  </a:lnTo>
                  <a:lnTo>
                    <a:pt x="670560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8844" r="0" b="-98844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9525"/>
              <a:ext cx="6705600" cy="8873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1A1A1A"/>
                  </a:solidFill>
                  <a:latin typeface="Arial"/>
                  <a:ea typeface="Arial"/>
                  <a:cs typeface="Arial"/>
                  <a:sym typeface="Arial"/>
                </a:rPr>
                <a:t>•  Entrevista con el cliente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822960" y="3621024"/>
            <a:ext cx="5029200" cy="658368"/>
            <a:chOff x="0" y="0"/>
            <a:chExt cx="6705600" cy="87782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705600" cy="877824"/>
            </a:xfrm>
            <a:custGeom>
              <a:avLst/>
              <a:gdLst/>
              <a:ahLst/>
              <a:cxnLst/>
              <a:rect r="r" b="b" t="t" l="l"/>
              <a:pathLst>
                <a:path h="877824" w="6705600">
                  <a:moveTo>
                    <a:pt x="0" y="0"/>
                  </a:moveTo>
                  <a:lnTo>
                    <a:pt x="6705600" y="0"/>
                  </a:lnTo>
                  <a:lnTo>
                    <a:pt x="670560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8844" r="0" b="-98844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9525"/>
              <a:ext cx="6705600" cy="8873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1A1A1A"/>
                  </a:solidFill>
                  <a:latin typeface="Arial"/>
                  <a:ea typeface="Arial"/>
                  <a:cs typeface="Arial"/>
                  <a:sym typeface="Arial"/>
                </a:rPr>
                <a:t>•  Levantamiento de requerimientos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822960" y="4315968"/>
            <a:ext cx="5029200" cy="658368"/>
            <a:chOff x="0" y="0"/>
            <a:chExt cx="6705600" cy="87782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705600" cy="877824"/>
            </a:xfrm>
            <a:custGeom>
              <a:avLst/>
              <a:gdLst/>
              <a:ahLst/>
              <a:cxnLst/>
              <a:rect r="r" b="b" t="t" l="l"/>
              <a:pathLst>
                <a:path h="877824" w="6705600">
                  <a:moveTo>
                    <a:pt x="0" y="0"/>
                  </a:moveTo>
                  <a:lnTo>
                    <a:pt x="6705600" y="0"/>
                  </a:lnTo>
                  <a:lnTo>
                    <a:pt x="670560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8844" r="0" b="-98844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6705600" cy="8873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1A1A1A"/>
                  </a:solidFill>
                  <a:latin typeface="Arial"/>
                  <a:ea typeface="Arial"/>
                  <a:cs typeface="Arial"/>
                  <a:sym typeface="Arial"/>
                </a:rPr>
                <a:t>•  Matriz de requisitos F/NF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822960" y="5010912"/>
            <a:ext cx="5029200" cy="658368"/>
            <a:chOff x="0" y="0"/>
            <a:chExt cx="6705600" cy="87782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705600" cy="877824"/>
            </a:xfrm>
            <a:custGeom>
              <a:avLst/>
              <a:gdLst/>
              <a:ahLst/>
              <a:cxnLst/>
              <a:rect r="r" b="b" t="t" l="l"/>
              <a:pathLst>
                <a:path h="877824" w="6705600">
                  <a:moveTo>
                    <a:pt x="0" y="0"/>
                  </a:moveTo>
                  <a:lnTo>
                    <a:pt x="6705600" y="0"/>
                  </a:lnTo>
                  <a:lnTo>
                    <a:pt x="670560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8844" r="0" b="-98844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9525"/>
              <a:ext cx="6705600" cy="8873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1A1A1A"/>
                  </a:solidFill>
                  <a:latin typeface="Arial"/>
                  <a:ea typeface="Arial"/>
                  <a:cs typeface="Arial"/>
                  <a:sym typeface="Arial"/>
                </a:rPr>
                <a:t>•  Diseño de mockups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822960" y="5705856"/>
            <a:ext cx="5029200" cy="658368"/>
            <a:chOff x="0" y="0"/>
            <a:chExt cx="6705600" cy="877824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705600" cy="877824"/>
            </a:xfrm>
            <a:custGeom>
              <a:avLst/>
              <a:gdLst/>
              <a:ahLst/>
              <a:cxnLst/>
              <a:rect r="r" b="b" t="t" l="l"/>
              <a:pathLst>
                <a:path h="877824" w="6705600">
                  <a:moveTo>
                    <a:pt x="0" y="0"/>
                  </a:moveTo>
                  <a:lnTo>
                    <a:pt x="6705600" y="0"/>
                  </a:lnTo>
                  <a:lnTo>
                    <a:pt x="670560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8844" r="0" b="-98844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9525"/>
              <a:ext cx="6705600" cy="8873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1A1A1A"/>
                  </a:solidFill>
                  <a:latin typeface="Arial"/>
                  <a:ea typeface="Arial"/>
                  <a:cs typeface="Arial"/>
                  <a:sym typeface="Arial"/>
                </a:rPr>
                <a:t>•  Organización en Trello y GitHub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6388103" y="1816103"/>
            <a:ext cx="5603243" cy="5786123"/>
            <a:chOff x="0" y="0"/>
            <a:chExt cx="7470991" cy="7714831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7471029" cy="7714869"/>
            </a:xfrm>
            <a:custGeom>
              <a:avLst/>
              <a:gdLst/>
              <a:ahLst/>
              <a:cxnLst/>
              <a:rect r="r" b="b" t="t" l="l"/>
              <a:pathLst>
                <a:path h="7714869" w="7471029">
                  <a:moveTo>
                    <a:pt x="0" y="195961"/>
                  </a:moveTo>
                  <a:cubicBezTo>
                    <a:pt x="0" y="87757"/>
                    <a:pt x="87757" y="0"/>
                    <a:pt x="195961" y="0"/>
                  </a:cubicBezTo>
                  <a:lnTo>
                    <a:pt x="7275068" y="0"/>
                  </a:lnTo>
                  <a:cubicBezTo>
                    <a:pt x="7383273" y="0"/>
                    <a:pt x="7471029" y="87757"/>
                    <a:pt x="7471029" y="195961"/>
                  </a:cubicBezTo>
                  <a:lnTo>
                    <a:pt x="7471029" y="7518908"/>
                  </a:lnTo>
                  <a:cubicBezTo>
                    <a:pt x="7471029" y="7627112"/>
                    <a:pt x="7383273" y="7714869"/>
                    <a:pt x="7275068" y="7714869"/>
                  </a:cubicBezTo>
                  <a:lnTo>
                    <a:pt x="195961" y="7714869"/>
                  </a:lnTo>
                  <a:cubicBezTo>
                    <a:pt x="87757" y="7714869"/>
                    <a:pt x="0" y="7627112"/>
                    <a:pt x="0" y="7518908"/>
                  </a:cubicBez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6388103" y="1816103"/>
            <a:ext cx="5603243" cy="848363"/>
            <a:chOff x="0" y="0"/>
            <a:chExt cx="7470991" cy="1131151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7471029" cy="1131189"/>
            </a:xfrm>
            <a:custGeom>
              <a:avLst/>
              <a:gdLst/>
              <a:ahLst/>
              <a:cxnLst/>
              <a:rect r="r" b="b" t="t" l="l"/>
              <a:pathLst>
                <a:path h="1131189" w="7471029">
                  <a:moveTo>
                    <a:pt x="203200" y="0"/>
                  </a:moveTo>
                  <a:lnTo>
                    <a:pt x="7267829" y="0"/>
                  </a:lnTo>
                  <a:cubicBezTo>
                    <a:pt x="7380053" y="0"/>
                    <a:pt x="7471029" y="90976"/>
                    <a:pt x="7471029" y="203200"/>
                  </a:cubicBezTo>
                  <a:lnTo>
                    <a:pt x="7471029" y="927989"/>
                  </a:lnTo>
                  <a:cubicBezTo>
                    <a:pt x="7471029" y="1040213"/>
                    <a:pt x="7380053" y="1131189"/>
                    <a:pt x="7267829" y="1131189"/>
                  </a:cubicBezTo>
                  <a:lnTo>
                    <a:pt x="203200" y="1131189"/>
                  </a:lnTo>
                  <a:cubicBezTo>
                    <a:pt x="149308" y="1131189"/>
                    <a:pt x="97623" y="1109781"/>
                    <a:pt x="59516" y="1071673"/>
                  </a:cubicBezTo>
                  <a:cubicBezTo>
                    <a:pt x="21409" y="1033566"/>
                    <a:pt x="0" y="981881"/>
                    <a:pt x="0" y="927989"/>
                  </a:cubicBezTo>
                  <a:lnTo>
                    <a:pt x="0" y="203200"/>
                  </a:ln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2D6A4F"/>
            </a:solidFill>
            <a:ln w="2540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6583680" y="1920240"/>
            <a:ext cx="5212080" cy="640080"/>
            <a:chOff x="0" y="0"/>
            <a:chExt cx="6949440" cy="85344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6949440" cy="853440"/>
            </a:xfrm>
            <a:custGeom>
              <a:avLst/>
              <a:gdLst/>
              <a:ahLst/>
              <a:cxnLst/>
              <a:rect r="r" b="b" t="t" l="l"/>
              <a:pathLst>
                <a:path h="853440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8663" r="0" b="-108663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9525"/>
              <a:ext cx="6949440" cy="8629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Fase 2 · Desarrollo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6675120" y="2926080"/>
            <a:ext cx="5029200" cy="658368"/>
            <a:chOff x="0" y="0"/>
            <a:chExt cx="6705600" cy="877824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6705600" cy="877824"/>
            </a:xfrm>
            <a:custGeom>
              <a:avLst/>
              <a:gdLst/>
              <a:ahLst/>
              <a:cxnLst/>
              <a:rect r="r" b="b" t="t" l="l"/>
              <a:pathLst>
                <a:path h="877824" w="6705600">
                  <a:moveTo>
                    <a:pt x="0" y="0"/>
                  </a:moveTo>
                  <a:lnTo>
                    <a:pt x="6705600" y="0"/>
                  </a:lnTo>
                  <a:lnTo>
                    <a:pt x="670560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8844" r="0" b="-98844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9525"/>
              <a:ext cx="6705600" cy="8873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1A1A1A"/>
                  </a:solidFill>
                  <a:latin typeface="Arial"/>
                  <a:ea typeface="Arial"/>
                  <a:cs typeface="Arial"/>
                  <a:sym typeface="Arial"/>
                </a:rPr>
                <a:t>•  Diseño de base de datos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6675120" y="3621024"/>
            <a:ext cx="5029200" cy="658368"/>
            <a:chOff x="0" y="0"/>
            <a:chExt cx="6705600" cy="877824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6705600" cy="877824"/>
            </a:xfrm>
            <a:custGeom>
              <a:avLst/>
              <a:gdLst/>
              <a:ahLst/>
              <a:cxnLst/>
              <a:rect r="r" b="b" t="t" l="l"/>
              <a:pathLst>
                <a:path h="877824" w="6705600">
                  <a:moveTo>
                    <a:pt x="0" y="0"/>
                  </a:moveTo>
                  <a:lnTo>
                    <a:pt x="6705600" y="0"/>
                  </a:lnTo>
                  <a:lnTo>
                    <a:pt x="670560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8844" r="0" b="-98844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9525"/>
              <a:ext cx="6705600" cy="8873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1A1A1A"/>
                  </a:solidFill>
                  <a:latin typeface="Arial"/>
                  <a:ea typeface="Arial"/>
                  <a:cs typeface="Arial"/>
                  <a:sym typeface="Arial"/>
                </a:rPr>
                <a:t>•  Proyecto Django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6675120" y="4315968"/>
            <a:ext cx="5029200" cy="658368"/>
            <a:chOff x="0" y="0"/>
            <a:chExt cx="6705600" cy="877824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6705600" cy="877824"/>
            </a:xfrm>
            <a:custGeom>
              <a:avLst/>
              <a:gdLst/>
              <a:ahLst/>
              <a:cxnLst/>
              <a:rect r="r" b="b" t="t" l="l"/>
              <a:pathLst>
                <a:path h="877824" w="6705600">
                  <a:moveTo>
                    <a:pt x="0" y="0"/>
                  </a:moveTo>
                  <a:lnTo>
                    <a:pt x="6705600" y="0"/>
                  </a:lnTo>
                  <a:lnTo>
                    <a:pt x="670560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8844" r="0" b="-98844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9525"/>
              <a:ext cx="6705600" cy="8873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1A1A1A"/>
                  </a:solidFill>
                  <a:latin typeface="Arial"/>
                  <a:ea typeface="Arial"/>
                  <a:cs typeface="Arial"/>
                  <a:sym typeface="Arial"/>
                </a:rPr>
                <a:t>•  Módulo terrenos y cultivos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6675120" y="5010912"/>
            <a:ext cx="5029200" cy="658368"/>
            <a:chOff x="0" y="0"/>
            <a:chExt cx="6705600" cy="877824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6705600" cy="877824"/>
            </a:xfrm>
            <a:custGeom>
              <a:avLst/>
              <a:gdLst/>
              <a:ahLst/>
              <a:cxnLst/>
              <a:rect r="r" b="b" t="t" l="l"/>
              <a:pathLst>
                <a:path h="877824" w="6705600">
                  <a:moveTo>
                    <a:pt x="0" y="0"/>
                  </a:moveTo>
                  <a:lnTo>
                    <a:pt x="6705600" y="0"/>
                  </a:lnTo>
                  <a:lnTo>
                    <a:pt x="670560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8844" r="0" b="-98844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9525"/>
              <a:ext cx="6705600" cy="8873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1A1A1A"/>
                  </a:solidFill>
                  <a:latin typeface="Arial"/>
                  <a:ea typeface="Arial"/>
                  <a:cs typeface="Arial"/>
                  <a:sym typeface="Arial"/>
                </a:rPr>
                <a:t>•  Calculadora agrícola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6675120" y="5705856"/>
            <a:ext cx="5029200" cy="658368"/>
            <a:chOff x="0" y="0"/>
            <a:chExt cx="6705600" cy="877824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6705600" cy="877824"/>
            </a:xfrm>
            <a:custGeom>
              <a:avLst/>
              <a:gdLst/>
              <a:ahLst/>
              <a:cxnLst/>
              <a:rect r="r" b="b" t="t" l="l"/>
              <a:pathLst>
                <a:path h="877824" w="6705600">
                  <a:moveTo>
                    <a:pt x="0" y="0"/>
                  </a:moveTo>
                  <a:lnTo>
                    <a:pt x="6705600" y="0"/>
                  </a:lnTo>
                  <a:lnTo>
                    <a:pt x="670560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8844" r="0" b="-98844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9525"/>
              <a:ext cx="6705600" cy="8873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1A1A1A"/>
                  </a:solidFill>
                  <a:latin typeface="Arial"/>
                  <a:ea typeface="Arial"/>
                  <a:cs typeface="Arial"/>
                  <a:sym typeface="Arial"/>
                </a:rPr>
                <a:t>•  Historial de actividades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6675120" y="6400800"/>
            <a:ext cx="5029200" cy="658368"/>
            <a:chOff x="0" y="0"/>
            <a:chExt cx="6705600" cy="877824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6705600" cy="877824"/>
            </a:xfrm>
            <a:custGeom>
              <a:avLst/>
              <a:gdLst/>
              <a:ahLst/>
              <a:cxnLst/>
              <a:rect r="r" b="b" t="t" l="l"/>
              <a:pathLst>
                <a:path h="877824" w="6705600">
                  <a:moveTo>
                    <a:pt x="0" y="0"/>
                  </a:moveTo>
                  <a:lnTo>
                    <a:pt x="6705600" y="0"/>
                  </a:lnTo>
                  <a:lnTo>
                    <a:pt x="670560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8844" r="0" b="-98844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9525"/>
              <a:ext cx="6705600" cy="8873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1A1A1A"/>
                  </a:solidFill>
                  <a:latin typeface="Arial"/>
                  <a:ea typeface="Arial"/>
                  <a:cs typeface="Arial"/>
                  <a:sym typeface="Arial"/>
                </a:rPr>
                <a:t>•  Integración de módulos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2240263" y="1816103"/>
            <a:ext cx="5603243" cy="5786123"/>
            <a:chOff x="0" y="0"/>
            <a:chExt cx="7470991" cy="7714831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7471029" cy="7714869"/>
            </a:xfrm>
            <a:custGeom>
              <a:avLst/>
              <a:gdLst/>
              <a:ahLst/>
              <a:cxnLst/>
              <a:rect r="r" b="b" t="t" l="l"/>
              <a:pathLst>
                <a:path h="7714869" w="7471029">
                  <a:moveTo>
                    <a:pt x="0" y="195961"/>
                  </a:moveTo>
                  <a:cubicBezTo>
                    <a:pt x="0" y="87757"/>
                    <a:pt x="87757" y="0"/>
                    <a:pt x="195961" y="0"/>
                  </a:cubicBezTo>
                  <a:lnTo>
                    <a:pt x="7275068" y="0"/>
                  </a:lnTo>
                  <a:cubicBezTo>
                    <a:pt x="7383273" y="0"/>
                    <a:pt x="7471029" y="87757"/>
                    <a:pt x="7471029" y="195961"/>
                  </a:cubicBezTo>
                  <a:lnTo>
                    <a:pt x="7471029" y="7518908"/>
                  </a:lnTo>
                  <a:cubicBezTo>
                    <a:pt x="7471029" y="7627112"/>
                    <a:pt x="7383273" y="7714869"/>
                    <a:pt x="7275068" y="7714869"/>
                  </a:cubicBezTo>
                  <a:lnTo>
                    <a:pt x="195961" y="7714869"/>
                  </a:lnTo>
                  <a:cubicBezTo>
                    <a:pt x="87757" y="7714869"/>
                    <a:pt x="0" y="7627112"/>
                    <a:pt x="0" y="7518908"/>
                  </a:cubicBez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56" id="56"/>
          <p:cNvGrpSpPr/>
          <p:nvPr/>
        </p:nvGrpSpPr>
        <p:grpSpPr>
          <a:xfrm rot="0">
            <a:off x="12240263" y="1816103"/>
            <a:ext cx="5603243" cy="848363"/>
            <a:chOff x="0" y="0"/>
            <a:chExt cx="7470991" cy="1131151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7471029" cy="1131189"/>
            </a:xfrm>
            <a:custGeom>
              <a:avLst/>
              <a:gdLst/>
              <a:ahLst/>
              <a:cxnLst/>
              <a:rect r="r" b="b" t="t" l="l"/>
              <a:pathLst>
                <a:path h="1131189" w="7471029">
                  <a:moveTo>
                    <a:pt x="266700" y="0"/>
                  </a:moveTo>
                  <a:lnTo>
                    <a:pt x="7204329" y="0"/>
                  </a:lnTo>
                  <a:cubicBezTo>
                    <a:pt x="7351623" y="0"/>
                    <a:pt x="7471029" y="119406"/>
                    <a:pt x="7471029" y="266700"/>
                  </a:cubicBezTo>
                  <a:lnTo>
                    <a:pt x="7471029" y="864489"/>
                  </a:lnTo>
                  <a:cubicBezTo>
                    <a:pt x="7471029" y="1011783"/>
                    <a:pt x="7351623" y="1131189"/>
                    <a:pt x="7204329" y="1131189"/>
                  </a:cubicBezTo>
                  <a:lnTo>
                    <a:pt x="266700" y="1131189"/>
                  </a:lnTo>
                  <a:cubicBezTo>
                    <a:pt x="195967" y="1131189"/>
                    <a:pt x="128131" y="1103090"/>
                    <a:pt x="78115" y="1053074"/>
                  </a:cubicBezTo>
                  <a:cubicBezTo>
                    <a:pt x="28099" y="1003058"/>
                    <a:pt x="0" y="935222"/>
                    <a:pt x="0" y="864489"/>
                  </a:cubicBezTo>
                  <a:lnTo>
                    <a:pt x="0" y="266700"/>
                  </a:lnTo>
                  <a:cubicBezTo>
                    <a:pt x="0" y="119406"/>
                    <a:pt x="119406" y="0"/>
                    <a:pt x="266700" y="0"/>
                  </a:cubicBezTo>
                  <a:close/>
                </a:path>
              </a:pathLst>
            </a:custGeom>
            <a:solidFill>
              <a:srgbClr val="1B4332"/>
            </a:solidFill>
            <a:ln w="25400" cap="rnd">
              <a:solidFill>
                <a:srgbClr val="333333"/>
              </a:solidFill>
              <a:prstDash val="solid"/>
              <a:round/>
            </a:ln>
          </p:spPr>
        </p:sp>
      </p:grpSp>
      <p:grpSp>
        <p:nvGrpSpPr>
          <p:cNvPr name="Group 58" id="58"/>
          <p:cNvGrpSpPr/>
          <p:nvPr/>
        </p:nvGrpSpPr>
        <p:grpSpPr>
          <a:xfrm rot="0">
            <a:off x="12435840" y="1920240"/>
            <a:ext cx="5212080" cy="640080"/>
            <a:chOff x="0" y="0"/>
            <a:chExt cx="6949440" cy="85344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6949440" cy="853440"/>
            </a:xfrm>
            <a:custGeom>
              <a:avLst/>
              <a:gdLst/>
              <a:ahLst/>
              <a:cxnLst/>
              <a:rect r="r" b="b" t="t" l="l"/>
              <a:pathLst>
                <a:path h="853440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8663" r="0" b="-108663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9525"/>
              <a:ext cx="6949440" cy="8629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Fase 3 · Validación y cierre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12527280" y="2926080"/>
            <a:ext cx="5029200" cy="658368"/>
            <a:chOff x="0" y="0"/>
            <a:chExt cx="6705600" cy="877824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6705600" cy="877824"/>
            </a:xfrm>
            <a:custGeom>
              <a:avLst/>
              <a:gdLst/>
              <a:ahLst/>
              <a:cxnLst/>
              <a:rect r="r" b="b" t="t" l="l"/>
              <a:pathLst>
                <a:path h="877824" w="6705600">
                  <a:moveTo>
                    <a:pt x="0" y="0"/>
                  </a:moveTo>
                  <a:lnTo>
                    <a:pt x="6705600" y="0"/>
                  </a:lnTo>
                  <a:lnTo>
                    <a:pt x="670560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8844" r="0" b="-98844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9525"/>
              <a:ext cx="6705600" cy="8873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1A1A1A"/>
                  </a:solidFill>
                  <a:latin typeface="Arial"/>
                  <a:ea typeface="Arial"/>
                  <a:cs typeface="Arial"/>
                  <a:sym typeface="Arial"/>
                </a:rPr>
                <a:t>•  Pruebas funcionales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12527280" y="3621024"/>
            <a:ext cx="5029200" cy="658368"/>
            <a:chOff x="0" y="0"/>
            <a:chExt cx="6705600" cy="877824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6705600" cy="877824"/>
            </a:xfrm>
            <a:custGeom>
              <a:avLst/>
              <a:gdLst/>
              <a:ahLst/>
              <a:cxnLst/>
              <a:rect r="r" b="b" t="t" l="l"/>
              <a:pathLst>
                <a:path h="877824" w="6705600">
                  <a:moveTo>
                    <a:pt x="0" y="0"/>
                  </a:moveTo>
                  <a:lnTo>
                    <a:pt x="6705600" y="0"/>
                  </a:lnTo>
                  <a:lnTo>
                    <a:pt x="670560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8844" r="0" b="-98844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9525"/>
              <a:ext cx="6705600" cy="8873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1A1A1A"/>
                  </a:solidFill>
                  <a:latin typeface="Arial"/>
                  <a:ea typeface="Arial"/>
                  <a:cs typeface="Arial"/>
                  <a:sym typeface="Arial"/>
                </a:rPr>
                <a:t>•  Validación con el cliente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12527280" y="4315968"/>
            <a:ext cx="5029200" cy="658368"/>
            <a:chOff x="0" y="0"/>
            <a:chExt cx="6705600" cy="877824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6705600" cy="877824"/>
            </a:xfrm>
            <a:custGeom>
              <a:avLst/>
              <a:gdLst/>
              <a:ahLst/>
              <a:cxnLst/>
              <a:rect r="r" b="b" t="t" l="l"/>
              <a:pathLst>
                <a:path h="877824" w="6705600">
                  <a:moveTo>
                    <a:pt x="0" y="0"/>
                  </a:moveTo>
                  <a:lnTo>
                    <a:pt x="6705600" y="0"/>
                  </a:lnTo>
                  <a:lnTo>
                    <a:pt x="670560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8844" r="0" b="-98844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9525"/>
              <a:ext cx="6705600" cy="8873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1A1A1A"/>
                  </a:solidFill>
                  <a:latin typeface="Arial"/>
                  <a:ea typeface="Arial"/>
                  <a:cs typeface="Arial"/>
                  <a:sym typeface="Arial"/>
                </a:rPr>
                <a:t>•  Corrección de errores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12527280" y="5010912"/>
            <a:ext cx="5029200" cy="658368"/>
            <a:chOff x="0" y="0"/>
            <a:chExt cx="6705600" cy="877824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6705600" cy="877824"/>
            </a:xfrm>
            <a:custGeom>
              <a:avLst/>
              <a:gdLst/>
              <a:ahLst/>
              <a:cxnLst/>
              <a:rect r="r" b="b" t="t" l="l"/>
              <a:pathLst>
                <a:path h="877824" w="6705600">
                  <a:moveTo>
                    <a:pt x="0" y="0"/>
                  </a:moveTo>
                  <a:lnTo>
                    <a:pt x="6705600" y="0"/>
                  </a:lnTo>
                  <a:lnTo>
                    <a:pt x="670560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8844" r="0" b="-98844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9525"/>
              <a:ext cx="6705600" cy="8873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1A1A1A"/>
                  </a:solidFill>
                  <a:latin typeface="Arial"/>
                  <a:ea typeface="Arial"/>
                  <a:cs typeface="Arial"/>
                  <a:sym typeface="Arial"/>
                </a:rPr>
                <a:t>•  Aplicación de mejoras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12527280" y="5705856"/>
            <a:ext cx="5029200" cy="658368"/>
            <a:chOff x="0" y="0"/>
            <a:chExt cx="6705600" cy="877824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6705600" cy="877824"/>
            </a:xfrm>
            <a:custGeom>
              <a:avLst/>
              <a:gdLst/>
              <a:ahLst/>
              <a:cxnLst/>
              <a:rect r="r" b="b" t="t" l="l"/>
              <a:pathLst>
                <a:path h="877824" w="6705600">
                  <a:moveTo>
                    <a:pt x="0" y="0"/>
                  </a:moveTo>
                  <a:lnTo>
                    <a:pt x="6705600" y="0"/>
                  </a:lnTo>
                  <a:lnTo>
                    <a:pt x="670560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8844" r="0" b="-98844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9525"/>
              <a:ext cx="6705600" cy="8873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1A1A1A"/>
                  </a:solidFill>
                  <a:latin typeface="Arial"/>
                  <a:ea typeface="Arial"/>
                  <a:cs typeface="Arial"/>
                  <a:sym typeface="Arial"/>
                </a:rPr>
                <a:t>•  Presentación final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-12697" y="8148318"/>
            <a:ext cx="18313403" cy="2357123"/>
            <a:chOff x="0" y="0"/>
            <a:chExt cx="24417871" cy="3142831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24417910" cy="3142869"/>
            </a:xfrm>
            <a:custGeom>
              <a:avLst/>
              <a:gdLst/>
              <a:ahLst/>
              <a:cxnLst/>
              <a:rect r="r" b="b" t="t" l="l"/>
              <a:pathLst>
                <a:path h="3142869" w="24417910">
                  <a:moveTo>
                    <a:pt x="469900" y="0"/>
                  </a:moveTo>
                  <a:lnTo>
                    <a:pt x="23948010" y="0"/>
                  </a:lnTo>
                  <a:cubicBezTo>
                    <a:pt x="24072635" y="0"/>
                    <a:pt x="24192156" y="49507"/>
                    <a:pt x="24280279" y="137631"/>
                  </a:cubicBezTo>
                  <a:cubicBezTo>
                    <a:pt x="24368403" y="225754"/>
                    <a:pt x="24417910" y="345275"/>
                    <a:pt x="24417910" y="469900"/>
                  </a:cubicBezTo>
                  <a:lnTo>
                    <a:pt x="24417910" y="2672969"/>
                  </a:lnTo>
                  <a:cubicBezTo>
                    <a:pt x="24417910" y="2932488"/>
                    <a:pt x="24207529" y="3142869"/>
                    <a:pt x="23948010" y="3142869"/>
                  </a:cubicBezTo>
                  <a:lnTo>
                    <a:pt x="469900" y="3142869"/>
                  </a:lnTo>
                  <a:cubicBezTo>
                    <a:pt x="345275" y="3142869"/>
                    <a:pt x="225754" y="3093362"/>
                    <a:pt x="137631" y="3005238"/>
                  </a:cubicBezTo>
                  <a:cubicBezTo>
                    <a:pt x="49507" y="2917115"/>
                    <a:pt x="0" y="2797594"/>
                    <a:pt x="0" y="2672969"/>
                  </a:cubicBezTo>
                  <a:lnTo>
                    <a:pt x="0" y="469900"/>
                  </a:lnTo>
                  <a:cubicBezTo>
                    <a:pt x="0" y="210381"/>
                    <a:pt x="210381" y="0"/>
                    <a:pt x="469900" y="0"/>
                  </a:cubicBezTo>
                  <a:close/>
                </a:path>
              </a:pathLst>
            </a:custGeom>
            <a:solidFill>
              <a:srgbClr val="1B4332"/>
            </a:solidFill>
            <a:ln w="25400" cap="rnd">
              <a:solidFill>
                <a:srgbClr val="333333"/>
              </a:solidFill>
              <a:prstDash val="solid"/>
              <a:round/>
            </a:ln>
          </p:spPr>
        </p:sp>
      </p:grpSp>
      <p:grpSp>
        <p:nvGrpSpPr>
          <p:cNvPr name="Group 78" id="78"/>
          <p:cNvGrpSpPr/>
          <p:nvPr/>
        </p:nvGrpSpPr>
        <p:grpSpPr>
          <a:xfrm rot="0">
            <a:off x="5852160" y="8148318"/>
            <a:ext cx="8229600" cy="548640"/>
            <a:chOff x="0" y="0"/>
            <a:chExt cx="10972800" cy="73152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10972800" cy="731520"/>
            </a:xfrm>
            <a:custGeom>
              <a:avLst/>
              <a:gdLst/>
              <a:ahLst/>
              <a:cxnLst/>
              <a:rect r="r" b="b" t="t" l="l"/>
              <a:pathLst>
                <a:path h="73152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-9525"/>
              <a:ext cx="1097280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74C69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Metodología: Scrum (sprints de 2 semanas)</a:t>
              </a:r>
            </a:p>
          </p:txBody>
        </p:sp>
      </p:grpSp>
      <p:grpSp>
        <p:nvGrpSpPr>
          <p:cNvPr name="Group 81" id="81"/>
          <p:cNvGrpSpPr/>
          <p:nvPr/>
        </p:nvGrpSpPr>
        <p:grpSpPr>
          <a:xfrm rot="0">
            <a:off x="1828800" y="8954133"/>
            <a:ext cx="16459200" cy="457200"/>
            <a:chOff x="0" y="0"/>
            <a:chExt cx="21945600" cy="609600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21945600" cy="609600"/>
            </a:xfrm>
            <a:custGeom>
              <a:avLst/>
              <a:gdLst/>
              <a:ahLst/>
              <a:cxnLst/>
              <a:rect r="r" b="b" t="t" l="l"/>
              <a:pathLst>
                <a:path h="6096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51461" r="0" b="-651461"/>
              </a:stretch>
            </a:blipFill>
          </p:spPr>
        </p:sp>
        <p:sp>
          <p:nvSpPr>
            <p:cNvPr name="TextBox 83" id="83"/>
            <p:cNvSpPr txBox="true"/>
            <p:nvPr/>
          </p:nvSpPr>
          <p:spPr>
            <a:xfrm>
              <a:off x="0" y="-9525"/>
              <a:ext cx="21945600" cy="619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Roles: Emiliano – Product Owner  ·  Hugo – Scrum Master  ·  Benjamín – Developer</a:t>
              </a:r>
            </a:p>
          </p:txBody>
        </p:sp>
      </p:grpSp>
      <p:sp>
        <p:nvSpPr>
          <p:cNvPr name="Freeform 84" id="84"/>
          <p:cNvSpPr/>
          <p:nvPr/>
        </p:nvSpPr>
        <p:spPr>
          <a:xfrm flipH="false" flipV="false" rot="0">
            <a:off x="16378933" y="-12697"/>
            <a:ext cx="1909067" cy="470108"/>
          </a:xfrm>
          <a:custGeom>
            <a:avLst/>
            <a:gdLst/>
            <a:ahLst/>
            <a:cxnLst/>
            <a:rect r="r" b="b" t="t" l="l"/>
            <a:pathLst>
              <a:path h="470108" w="1909067">
                <a:moveTo>
                  <a:pt x="0" y="0"/>
                </a:moveTo>
                <a:lnTo>
                  <a:pt x="1909067" y="0"/>
                </a:lnTo>
                <a:lnTo>
                  <a:pt x="1909067" y="470108"/>
                </a:lnTo>
                <a:lnTo>
                  <a:pt x="0" y="4701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671323"/>
            <a:chOff x="0" y="0"/>
            <a:chExt cx="24417871" cy="222843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17910" cy="2228469"/>
            </a:xfrm>
            <a:custGeom>
              <a:avLst/>
              <a:gdLst/>
              <a:ahLst/>
              <a:cxnLst/>
              <a:rect r="r" b="b" t="t" l="l"/>
              <a:pathLst>
                <a:path h="2228469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2228469"/>
                  </a:lnTo>
                  <a:lnTo>
                    <a:pt x="0" y="2228469"/>
                  </a:lnTo>
                  <a:close/>
                </a:path>
              </a:pathLst>
            </a:custGeom>
            <a:solidFill>
              <a:srgbClr val="1B4332"/>
            </a:solidFill>
            <a:ln w="2540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402336"/>
            <a:ext cx="16459200" cy="1075953"/>
            <a:chOff x="0" y="0"/>
            <a:chExt cx="21945600" cy="143460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1434604"/>
            </a:xfrm>
            <a:custGeom>
              <a:avLst/>
              <a:gdLst/>
              <a:ahLst/>
              <a:cxnLst/>
              <a:rect r="r" b="b" t="t" l="l"/>
              <a:pathLst>
                <a:path h="1434604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34604"/>
                  </a:lnTo>
                  <a:lnTo>
                    <a:pt x="0" y="143460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55576" r="0" b="-240561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21945600" cy="14536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9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Mockups</a:t>
              </a: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6378933" y="-12697"/>
            <a:ext cx="1909067" cy="470108"/>
          </a:xfrm>
          <a:custGeom>
            <a:avLst/>
            <a:gdLst/>
            <a:ahLst/>
            <a:cxnLst/>
            <a:rect r="r" b="b" t="t" l="l"/>
            <a:pathLst>
              <a:path h="470108" w="1909067">
                <a:moveTo>
                  <a:pt x="0" y="0"/>
                </a:moveTo>
                <a:lnTo>
                  <a:pt x="1909067" y="0"/>
                </a:lnTo>
                <a:lnTo>
                  <a:pt x="1909067" y="470108"/>
                </a:lnTo>
                <a:lnTo>
                  <a:pt x="0" y="4701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1332" y="2332207"/>
            <a:ext cx="8708467" cy="6006053"/>
          </a:xfrm>
          <a:custGeom>
            <a:avLst/>
            <a:gdLst/>
            <a:ahLst/>
            <a:cxnLst/>
            <a:rect r="r" b="b" t="t" l="l"/>
            <a:pathLst>
              <a:path h="6006053" w="8708467">
                <a:moveTo>
                  <a:pt x="0" y="0"/>
                </a:moveTo>
                <a:lnTo>
                  <a:pt x="8708467" y="0"/>
                </a:lnTo>
                <a:lnTo>
                  <a:pt x="8708467" y="6006053"/>
                </a:lnTo>
                <a:lnTo>
                  <a:pt x="0" y="600605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8746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8779799" y="2332207"/>
            <a:ext cx="9072673" cy="6213545"/>
          </a:xfrm>
          <a:custGeom>
            <a:avLst/>
            <a:gdLst/>
            <a:ahLst/>
            <a:cxnLst/>
            <a:rect r="r" b="b" t="t" l="l"/>
            <a:pathLst>
              <a:path h="6213545" w="9072673">
                <a:moveTo>
                  <a:pt x="0" y="0"/>
                </a:moveTo>
                <a:lnTo>
                  <a:pt x="9072672" y="0"/>
                </a:lnTo>
                <a:lnTo>
                  <a:pt x="9072672" y="6213545"/>
                </a:lnTo>
                <a:lnTo>
                  <a:pt x="0" y="621354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951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671323"/>
            <a:chOff x="0" y="0"/>
            <a:chExt cx="24417871" cy="222843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17910" cy="2228469"/>
            </a:xfrm>
            <a:custGeom>
              <a:avLst/>
              <a:gdLst/>
              <a:ahLst/>
              <a:cxnLst/>
              <a:rect r="r" b="b" t="t" l="l"/>
              <a:pathLst>
                <a:path h="2228469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2228469"/>
                  </a:lnTo>
                  <a:lnTo>
                    <a:pt x="0" y="2228469"/>
                  </a:lnTo>
                  <a:close/>
                </a:path>
              </a:pathLst>
            </a:custGeom>
            <a:solidFill>
              <a:srgbClr val="1B4332"/>
            </a:solidFill>
            <a:ln w="2540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402336"/>
            <a:ext cx="16459200" cy="1075953"/>
            <a:chOff x="0" y="0"/>
            <a:chExt cx="21945600" cy="143460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1434604"/>
            </a:xfrm>
            <a:custGeom>
              <a:avLst/>
              <a:gdLst/>
              <a:ahLst/>
              <a:cxnLst/>
              <a:rect r="r" b="b" t="t" l="l"/>
              <a:pathLst>
                <a:path h="1434604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34604"/>
                  </a:lnTo>
                  <a:lnTo>
                    <a:pt x="0" y="14346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5576" r="0" b="-240561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21945600" cy="14536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9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Conclusión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14400" y="2103120"/>
            <a:ext cx="16459200" cy="1280160"/>
            <a:chOff x="0" y="0"/>
            <a:chExt cx="21945600" cy="170688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21945600" cy="17259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>
                  <a:solidFill>
                    <a:srgbClr val="1A1A1A"/>
                  </a:solidFill>
                  <a:latin typeface="Arial"/>
                  <a:ea typeface="Arial"/>
                  <a:cs typeface="Arial"/>
                  <a:sym typeface="Arial"/>
                </a:rPr>
                <a:t>AgroAsesor surge a partir de una necesidad identificada en un cliente real del sector agrícola.</a:t>
              </a:r>
            </a:p>
            <a:p>
              <a:pPr algn="l">
                <a:lnSpc>
                  <a:spcPts val="3600"/>
                </a:lnSpc>
              </a:pPr>
              <a:r>
                <a:rPr lang="en-US" sz="3000">
                  <a:solidFill>
                    <a:srgbClr val="1A1A1A"/>
                  </a:solidFill>
                  <a:latin typeface="Arial"/>
                  <a:ea typeface="Arial"/>
                  <a:cs typeface="Arial"/>
                  <a:sym typeface="Arial"/>
                </a:rPr>
                <a:t>El proyecto propone una solución web sencilla, factible y desarrollable dentro del periodo académico.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14400" y="3566160"/>
            <a:ext cx="16459200" cy="640080"/>
            <a:chOff x="0" y="0"/>
            <a:chExt cx="21945600" cy="8534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945600" cy="853440"/>
            </a:xfrm>
            <a:custGeom>
              <a:avLst/>
              <a:gdLst/>
              <a:ahLst/>
              <a:cxnLst/>
              <a:rect r="r" b="b" t="t" l="l"/>
              <a:pathLst>
                <a:path h="8534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1043" r="0" b="-451043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21945600" cy="872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1A1A1A"/>
                  </a:solidFill>
                  <a:latin typeface="Arial"/>
                  <a:ea typeface="Arial"/>
                  <a:cs typeface="Arial"/>
                  <a:sym typeface="Arial"/>
                </a:rPr>
                <a:t>La delimitación del MVP permite concentrar el trabajo en tres funciones principales: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14400" y="5010150"/>
            <a:ext cx="5420363" cy="1305563"/>
            <a:chOff x="0" y="0"/>
            <a:chExt cx="7227151" cy="174075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227189" cy="1740789"/>
            </a:xfrm>
            <a:custGeom>
              <a:avLst/>
              <a:gdLst/>
              <a:ahLst/>
              <a:cxnLst/>
              <a:rect r="r" b="b" t="t" l="l"/>
              <a:pathLst>
                <a:path h="1740789" w="7227189">
                  <a:moveTo>
                    <a:pt x="0" y="199009"/>
                  </a:moveTo>
                  <a:cubicBezTo>
                    <a:pt x="0" y="89027"/>
                    <a:pt x="89027" y="0"/>
                    <a:pt x="199009" y="0"/>
                  </a:cubicBezTo>
                  <a:lnTo>
                    <a:pt x="7028180" y="0"/>
                  </a:lnTo>
                  <a:cubicBezTo>
                    <a:pt x="7138036" y="0"/>
                    <a:pt x="7227189" y="89027"/>
                    <a:pt x="7227189" y="199009"/>
                  </a:cubicBezTo>
                  <a:lnTo>
                    <a:pt x="7227189" y="1541780"/>
                  </a:lnTo>
                  <a:cubicBezTo>
                    <a:pt x="7227189" y="1651635"/>
                    <a:pt x="7138162" y="1740789"/>
                    <a:pt x="7028180" y="1740789"/>
                  </a:cubicBezTo>
                  <a:lnTo>
                    <a:pt x="199009" y="1740789"/>
                  </a:lnTo>
                  <a:cubicBezTo>
                    <a:pt x="89027" y="1740789"/>
                    <a:pt x="0" y="1651635"/>
                    <a:pt x="0" y="1541780"/>
                  </a:cubicBez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1201417" y="5297167"/>
            <a:ext cx="731520" cy="731520"/>
            <a:chOff x="0" y="0"/>
            <a:chExt cx="975360" cy="975360"/>
          </a:xfrm>
        </p:grpSpPr>
        <p:sp>
          <p:nvSpPr>
            <p:cNvPr name="Freeform 16" id="16" descr="preencoded.png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2115817" y="5205727"/>
            <a:ext cx="3931920" cy="914400"/>
            <a:chOff x="0" y="0"/>
            <a:chExt cx="5242560" cy="12192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242560" cy="1219200"/>
            </a:xfrm>
            <a:custGeom>
              <a:avLst/>
              <a:gdLst/>
              <a:ahLst/>
              <a:cxnLst/>
              <a:rect r="r" b="b" t="t" l="l"/>
              <a:pathLst>
                <a:path h="1219200" w="5242560">
                  <a:moveTo>
                    <a:pt x="0" y="0"/>
                  </a:moveTo>
                  <a:lnTo>
                    <a:pt x="5242560" y="0"/>
                  </a:lnTo>
                  <a:lnTo>
                    <a:pt x="524256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785" r="0" b="-33785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19050"/>
              <a:ext cx="5242560" cy="12382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1B4332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Terrenos y cultivos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6583680" y="5010150"/>
            <a:ext cx="5420363" cy="1305563"/>
            <a:chOff x="0" y="0"/>
            <a:chExt cx="7227151" cy="174075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227189" cy="1740789"/>
            </a:xfrm>
            <a:custGeom>
              <a:avLst/>
              <a:gdLst/>
              <a:ahLst/>
              <a:cxnLst/>
              <a:rect r="r" b="b" t="t" l="l"/>
              <a:pathLst>
                <a:path h="1740789" w="7227189">
                  <a:moveTo>
                    <a:pt x="0" y="199009"/>
                  </a:moveTo>
                  <a:cubicBezTo>
                    <a:pt x="0" y="89027"/>
                    <a:pt x="89027" y="0"/>
                    <a:pt x="199009" y="0"/>
                  </a:cubicBezTo>
                  <a:lnTo>
                    <a:pt x="7028180" y="0"/>
                  </a:lnTo>
                  <a:cubicBezTo>
                    <a:pt x="7138036" y="0"/>
                    <a:pt x="7227189" y="89027"/>
                    <a:pt x="7227189" y="199009"/>
                  </a:cubicBezTo>
                  <a:lnTo>
                    <a:pt x="7227189" y="1541780"/>
                  </a:lnTo>
                  <a:cubicBezTo>
                    <a:pt x="7227189" y="1651635"/>
                    <a:pt x="7138162" y="1740789"/>
                    <a:pt x="7028180" y="1740789"/>
                  </a:cubicBezTo>
                  <a:lnTo>
                    <a:pt x="199009" y="1740789"/>
                  </a:lnTo>
                  <a:cubicBezTo>
                    <a:pt x="89027" y="1740789"/>
                    <a:pt x="0" y="1651635"/>
                    <a:pt x="0" y="1541780"/>
                  </a:cubicBez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6870697" y="5297167"/>
            <a:ext cx="731520" cy="731520"/>
            <a:chOff x="0" y="0"/>
            <a:chExt cx="975360" cy="975360"/>
          </a:xfrm>
        </p:grpSpPr>
        <p:sp>
          <p:nvSpPr>
            <p:cNvPr name="Freeform 23" id="23" descr="preencoded.png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7785097" y="5205727"/>
            <a:ext cx="3931920" cy="914400"/>
            <a:chOff x="0" y="0"/>
            <a:chExt cx="5242560" cy="12192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242560" cy="1219200"/>
            </a:xfrm>
            <a:custGeom>
              <a:avLst/>
              <a:gdLst/>
              <a:ahLst/>
              <a:cxnLst/>
              <a:rect r="r" b="b" t="t" l="l"/>
              <a:pathLst>
                <a:path h="1219200" w="5242560">
                  <a:moveTo>
                    <a:pt x="0" y="0"/>
                  </a:moveTo>
                  <a:lnTo>
                    <a:pt x="5242560" y="0"/>
                  </a:lnTo>
                  <a:lnTo>
                    <a:pt x="524256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785" r="0" b="-33785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19050"/>
              <a:ext cx="5242560" cy="12382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1B4332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Cálculos agrícolas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2252960" y="5010150"/>
            <a:ext cx="5420363" cy="1305563"/>
            <a:chOff x="0" y="0"/>
            <a:chExt cx="7227151" cy="1740751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227189" cy="1740789"/>
            </a:xfrm>
            <a:custGeom>
              <a:avLst/>
              <a:gdLst/>
              <a:ahLst/>
              <a:cxnLst/>
              <a:rect r="r" b="b" t="t" l="l"/>
              <a:pathLst>
                <a:path h="1740789" w="7227189">
                  <a:moveTo>
                    <a:pt x="0" y="199009"/>
                  </a:moveTo>
                  <a:cubicBezTo>
                    <a:pt x="0" y="89027"/>
                    <a:pt x="89027" y="0"/>
                    <a:pt x="199009" y="0"/>
                  </a:cubicBezTo>
                  <a:lnTo>
                    <a:pt x="7028180" y="0"/>
                  </a:lnTo>
                  <a:cubicBezTo>
                    <a:pt x="7138036" y="0"/>
                    <a:pt x="7227189" y="89027"/>
                    <a:pt x="7227189" y="199009"/>
                  </a:cubicBezTo>
                  <a:lnTo>
                    <a:pt x="7227189" y="1541780"/>
                  </a:lnTo>
                  <a:cubicBezTo>
                    <a:pt x="7227189" y="1651635"/>
                    <a:pt x="7138162" y="1740789"/>
                    <a:pt x="7028180" y="1740789"/>
                  </a:cubicBezTo>
                  <a:lnTo>
                    <a:pt x="199009" y="1740789"/>
                  </a:lnTo>
                  <a:cubicBezTo>
                    <a:pt x="89027" y="1740789"/>
                    <a:pt x="0" y="1651635"/>
                    <a:pt x="0" y="1541780"/>
                  </a:cubicBez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12539977" y="5297167"/>
            <a:ext cx="731520" cy="731520"/>
            <a:chOff x="0" y="0"/>
            <a:chExt cx="975360" cy="975360"/>
          </a:xfrm>
        </p:grpSpPr>
        <p:sp>
          <p:nvSpPr>
            <p:cNvPr name="Freeform 30" id="30" descr="preencoded.png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3454377" y="5205727"/>
            <a:ext cx="3931920" cy="914400"/>
            <a:chOff x="0" y="0"/>
            <a:chExt cx="5242560" cy="12192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5242560" cy="1219200"/>
            </a:xfrm>
            <a:custGeom>
              <a:avLst/>
              <a:gdLst/>
              <a:ahLst/>
              <a:cxnLst/>
              <a:rect r="r" b="b" t="t" l="l"/>
              <a:pathLst>
                <a:path h="1219200" w="5242560">
                  <a:moveTo>
                    <a:pt x="0" y="0"/>
                  </a:moveTo>
                  <a:lnTo>
                    <a:pt x="5242560" y="0"/>
                  </a:lnTo>
                  <a:lnTo>
                    <a:pt x="524256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785" r="0" b="-33785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19050"/>
              <a:ext cx="5242560" cy="12382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1B4332"/>
                  </a:solidFill>
                  <a:latin typeface="Arial Bold"/>
                  <a:ea typeface="Arial Bold"/>
                  <a:cs typeface="Arial Bold"/>
                  <a:sym typeface="Arial Bold"/>
                </a:rPr>
                <a:t>Historial de actividades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718823" y="7119623"/>
            <a:ext cx="16850363" cy="2585723"/>
            <a:chOff x="0" y="0"/>
            <a:chExt cx="22467151" cy="3447631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2467190" cy="3447669"/>
            </a:xfrm>
            <a:custGeom>
              <a:avLst/>
              <a:gdLst/>
              <a:ahLst/>
              <a:cxnLst/>
              <a:rect r="r" b="b" t="t" l="l"/>
              <a:pathLst>
                <a:path h="3447669" w="22467190">
                  <a:moveTo>
                    <a:pt x="0" y="246253"/>
                  </a:moveTo>
                  <a:cubicBezTo>
                    <a:pt x="0" y="110236"/>
                    <a:pt x="110236" y="0"/>
                    <a:pt x="246253" y="0"/>
                  </a:cubicBezTo>
                  <a:lnTo>
                    <a:pt x="22220937" y="0"/>
                  </a:lnTo>
                  <a:cubicBezTo>
                    <a:pt x="22356953" y="0"/>
                    <a:pt x="22467190" y="110236"/>
                    <a:pt x="22467190" y="246253"/>
                  </a:cubicBezTo>
                  <a:lnTo>
                    <a:pt x="22467190" y="3201416"/>
                  </a:lnTo>
                  <a:cubicBezTo>
                    <a:pt x="22467190" y="3337433"/>
                    <a:pt x="22356953" y="3447669"/>
                    <a:pt x="22220937" y="3447669"/>
                  </a:cubicBezTo>
                  <a:lnTo>
                    <a:pt x="246253" y="3447669"/>
                  </a:lnTo>
                  <a:cubicBezTo>
                    <a:pt x="110236" y="3447669"/>
                    <a:pt x="0" y="3337433"/>
                    <a:pt x="0" y="3201416"/>
                  </a:cubicBezTo>
                  <a:close/>
                </a:path>
              </a:pathLst>
            </a:custGeom>
            <a:solidFill>
              <a:srgbClr val="1B4332"/>
            </a:solidFill>
            <a:ln w="2540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1280160" y="7680960"/>
            <a:ext cx="731520" cy="731520"/>
            <a:chOff x="0" y="0"/>
            <a:chExt cx="975360" cy="975360"/>
          </a:xfrm>
        </p:grpSpPr>
        <p:sp>
          <p:nvSpPr>
            <p:cNvPr name="Freeform 37" id="37" descr="preencoded.png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2377440" y="7589520"/>
            <a:ext cx="14630400" cy="1645920"/>
            <a:chOff x="0" y="0"/>
            <a:chExt cx="19507200" cy="219456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9507200" cy="2194560"/>
            </a:xfrm>
            <a:custGeom>
              <a:avLst/>
              <a:gdLst/>
              <a:ahLst/>
              <a:cxnLst/>
              <a:rect r="r" b="b" t="t" l="l"/>
              <a:pathLst>
                <a:path h="2194560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3200" r="0" b="-12320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28575"/>
              <a:ext cx="19507200" cy="22231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 i="true">
                  <a:solidFill>
                    <a:srgbClr val="FFFFFF"/>
                  </a:solidFill>
                  <a:latin typeface="Arial Italics"/>
                  <a:ea typeface="Arial Italics"/>
                  <a:cs typeface="Arial Italics"/>
                  <a:sym typeface="Arial Italics"/>
                </a:rPr>
                <a:t>“AgroAsesor busca transformar información agrícola dispersa en una herramienta organizada, accesible y útil para el cliente.”</a:t>
              </a:r>
            </a:p>
          </p:txBody>
        </p:sp>
      </p:grpSp>
      <p:sp>
        <p:nvSpPr>
          <p:cNvPr name="Freeform 41" id="41"/>
          <p:cNvSpPr/>
          <p:nvPr/>
        </p:nvSpPr>
        <p:spPr>
          <a:xfrm flipH="false" flipV="false" rot="0">
            <a:off x="16378933" y="-12697"/>
            <a:ext cx="1909067" cy="470108"/>
          </a:xfrm>
          <a:custGeom>
            <a:avLst/>
            <a:gdLst/>
            <a:ahLst/>
            <a:cxnLst/>
            <a:rect r="r" b="b" t="t" l="l"/>
            <a:pathLst>
              <a:path h="470108" w="1909067">
                <a:moveTo>
                  <a:pt x="0" y="0"/>
                </a:moveTo>
                <a:lnTo>
                  <a:pt x="1909067" y="0"/>
                </a:lnTo>
                <a:lnTo>
                  <a:pt x="1909067" y="470108"/>
                </a:lnTo>
                <a:lnTo>
                  <a:pt x="0" y="47010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DAHT0OWlvYU</dc:identifier>
  <dcterms:modified xsi:type="dcterms:W3CDTF">2011-08-01T06:04:30Z</dcterms:modified>
  <cp:revision>1</cp:revision>
  <dc:title>Presentación Proyecto.pptx</dc:title>
</cp:coreProperties>
</file>